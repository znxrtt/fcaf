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C7431E-BD7D-4360-AA91-379FEF763733}" v="24" dt="2026-08-17T04:35:57.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Cryptographic discovery tells us what exists, but it does not automatically tell us what should be migrated first, what currently limits readiness, or what action should follow. FCAF addresses this decision gap by combining CBOM and runtime evidence with component context to produce readiness, confidence, priority, and recommended actions. The framework scope is Financial Systems; Payment Systems are the implemented and evaluated case study.
[Sources]
- User-provided FCAF Executive Presentation and verified technical materials.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of concept assessed five algorithm assets across three represented component types. The average current maturity was 2.2 out of 4, and ECDSA in the Payment Gateway received the highest priority score of 12.0. The implementation passed 184 automated tests with zero failures and zero skipped tests. The proposed next step is to evaluate the evidence pipeline, component mapping, and assessment outputs using a broader controlled financial-system evidence set with domain SME review.
[Sources]
- User-provided FCAF Executive Presentation and verified technical materials.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FOSYS_POC">
    <p:bg>
      <p:bgPr>
        <a:solidFill>
          <a:srgbClr val="FFFFFF"/>
        </a:solidFill>
        <a:effectLst/>
      </p:bgPr>
    </p:bg>
    <p:spTree>
      <p:nvGrpSpPr>
        <p:cNvPr id="1" name=""/>
        <p:cNvGrpSpPr/>
        <p:nvPr/>
      </p:nvGrpSpPr>
      <p:grpSpPr>
        <a:xfrm>
          <a:off x="0" y="0"/>
          <a:ext cx="0" cy="0"/>
          <a:chOff x="0" y="0"/>
          <a:chExt cx="0" cy="0"/>
        </a:xfrm>
      </p:grpSpPr>
      <p:pic>
        <p:nvPicPr>
          <p:cNvPr id="2" name="Image 0" descr="/mnt/data/poc_work/tmpl/ppt/media/image1.png"/>
          <p:cNvPicPr>
            <a:picLocks noChangeAspect="1"/>
          </p:cNvPicPr>
          <p:nvPr/>
        </p:nvPicPr>
        <p:blipFill>
          <a:blip r:embed="rId2"/>
          <a:stretch>
            <a:fillRect/>
          </a:stretch>
        </p:blipFill>
        <p:spPr>
          <a:xfrm>
            <a:off x="0" y="0"/>
            <a:ext cx="12191695" cy="283464"/>
          </a:xfrm>
          <a:prstGeom prst="rect">
            <a:avLst/>
          </a:prstGeom>
        </p:spPr>
      </p:pic>
      <p:pic>
        <p:nvPicPr>
          <p:cNvPr id="3" name="Image 1" descr="/mnt/data/poc_work/tmpl/ppt/media/image2.png"/>
          <p:cNvPicPr>
            <a:picLocks noChangeAspect="1"/>
          </p:cNvPicPr>
          <p:nvPr/>
        </p:nvPicPr>
        <p:blipFill>
          <a:blip r:embed="rId3"/>
          <a:stretch>
            <a:fillRect/>
          </a:stretch>
        </p:blipFill>
        <p:spPr>
          <a:xfrm>
            <a:off x="10652760" y="155448"/>
            <a:ext cx="1143000" cy="411480"/>
          </a:xfrm>
          <a:prstGeom prst="rect">
            <a:avLst/>
          </a:prstGeom>
        </p:spPr>
      </p:pic>
      <p:sp>
        <p:nvSpPr>
          <p:cNvPr id="4" name="Shape 0"/>
          <p:cNvSpPr/>
          <p:nvPr/>
        </p:nvSpPr>
        <p:spPr>
          <a:xfrm>
            <a:off x="411480" y="6428232"/>
            <a:ext cx="11338560" cy="0"/>
          </a:xfrm>
          <a:prstGeom prst="line">
            <a:avLst/>
          </a:prstGeom>
          <a:noFill/>
          <a:ln w="12700">
            <a:solidFill>
              <a:srgbClr val="D9E2F2"/>
            </a:solidFill>
            <a:prstDash val="solid"/>
          </a:ln>
        </p:spPr>
        <p:txBody>
          <a:bodyPr/>
          <a:lstStyle/>
          <a:p>
            <a:endParaRPr lang="en-US"/>
          </a:p>
        </p:txBody>
      </p:sp>
      <p:sp>
        <p:nvSpPr>
          <p:cNvPr id="5" name="Text 1"/>
          <p:cNvSpPr/>
          <p:nvPr/>
        </p:nvSpPr>
        <p:spPr>
          <a:xfrm>
            <a:off x="457200" y="6473952"/>
            <a:ext cx="1097280"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Quantum PoC</a:t>
            </a:r>
            <a:endParaRPr lang="en-US" sz="800" dirty="0"/>
          </a:p>
        </p:txBody>
      </p:sp>
      <p:sp>
        <p:nvSpPr>
          <p:cNvPr id="6" name="Text 2"/>
          <p:cNvSpPr/>
          <p:nvPr/>
        </p:nvSpPr>
        <p:spPr>
          <a:xfrm>
            <a:off x="9738360" y="6473952"/>
            <a:ext cx="1965960" cy="164592"/>
          </a:xfrm>
          <a:prstGeom prst="rect">
            <a:avLst/>
          </a:prstGeom>
          <a:noFill/>
          <a:ln/>
        </p:spPr>
        <p:txBody>
          <a:bodyPr wrap="square" lIns="0" tIns="0" rIns="0" bIns="0" rtlCol="0" anchor="ctr"/>
          <a:lstStyle/>
          <a:p>
            <a:pPr marL="0" indent="0" algn="r">
              <a:buNone/>
            </a:pPr>
            <a:r>
              <a:rPr lang="en-US" sz="800" dirty="0">
                <a:solidFill>
                  <a:srgbClr val="6B7280"/>
                </a:solidFill>
                <a:latin typeface="Aptos" pitchFamily="34" charset="0"/>
                <a:ea typeface="Aptos" pitchFamily="34" charset="-122"/>
                <a:cs typeface="Aptos" pitchFamily="34" charset="-120"/>
              </a:rPr>
              <a:t>©2026 Infosys Confidential</a:t>
            </a:r>
            <a:endParaRPr lang="en-US" sz="800" dirty="0"/>
          </a:p>
        </p:txBody>
      </p:sp>
      <p:sp>
        <p:nvSpPr>
          <p:cNvPr id="25" name="Slide Number Placeholder 0"/>
          <p:cNvSpPr>
            <a:spLocks noGrp="1"/>
          </p:cNvSpPr>
          <p:nvPr>
            <p:ph type="sldNum" sz="quarter" idx="4294967295"/>
          </p:nvPr>
        </p:nvSpPr>
        <p:spPr>
          <a:xfrm>
            <a:off x="11750040"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2" name="Text 0"/>
          <p:cNvSpPr/>
          <p:nvPr/>
        </p:nvSpPr>
        <p:spPr>
          <a:xfrm>
            <a:off x="525780" y="618668"/>
            <a:ext cx="6858000" cy="201168"/>
          </a:xfrm>
          <a:prstGeom prst="rect">
            <a:avLst/>
          </a:prstGeom>
          <a:noFill/>
          <a:ln/>
        </p:spPr>
        <p:txBody>
          <a:bodyPr wrap="square" lIns="0" tIns="0" rIns="0" bIns="0" rtlCol="0" anchor="ctr"/>
          <a:lstStyle/>
          <a:p>
            <a:pPr marL="0" indent="0">
              <a:buNone/>
            </a:pPr>
            <a:r>
              <a:rPr lang="en-US" sz="1000" b="1" kern="0" spc="110" dirty="0">
                <a:solidFill>
                  <a:srgbClr val="007CC3"/>
                </a:solidFill>
                <a:latin typeface="Aptos" pitchFamily="34" charset="0"/>
                <a:ea typeface="Aptos" pitchFamily="34" charset="-122"/>
                <a:cs typeface="Aptos" pitchFamily="34" charset="-120"/>
              </a:rPr>
              <a:t>QUANTUM PoC BRIEF</a:t>
            </a:r>
            <a:endParaRPr lang="en-US" sz="1000" dirty="0"/>
          </a:p>
        </p:txBody>
      </p:sp>
      <p:sp>
        <p:nvSpPr>
          <p:cNvPr id="3" name="Text 1"/>
          <p:cNvSpPr/>
          <p:nvPr/>
        </p:nvSpPr>
        <p:spPr>
          <a:xfrm>
            <a:off x="502920" y="667512"/>
            <a:ext cx="10972800" cy="512064"/>
          </a:xfrm>
          <a:prstGeom prst="rect">
            <a:avLst/>
          </a:prstGeom>
          <a:noFill/>
          <a:ln/>
        </p:spPr>
        <p:txBody>
          <a:bodyPr wrap="square" lIns="0" tIns="0" rIns="0" bIns="0" rtlCol="0" anchor="ctr"/>
          <a:lstStyle/>
          <a:p>
            <a:pPr marL="0" indent="0">
              <a:buNone/>
            </a:pPr>
            <a:r>
              <a:rPr lang="en-US" sz="2600" b="1" dirty="0">
                <a:solidFill>
                  <a:srgbClr val="002060"/>
                </a:solidFill>
                <a:latin typeface="Aptos Display" pitchFamily="34" charset="0"/>
                <a:ea typeface="Aptos Display" pitchFamily="34" charset="-122"/>
                <a:cs typeface="Aptos Display" pitchFamily="34" charset="-120"/>
              </a:rPr>
              <a:t>Financial Crypto Agility Assessment Framework (FCAF)</a:t>
            </a:r>
            <a:endParaRPr lang="en-US" sz="2600" dirty="0"/>
          </a:p>
        </p:txBody>
      </p:sp>
      <p:sp>
        <p:nvSpPr>
          <p:cNvPr id="4" name="Text 2"/>
          <p:cNvSpPr/>
          <p:nvPr/>
        </p:nvSpPr>
        <p:spPr>
          <a:xfrm>
            <a:off x="502920" y="1197864"/>
            <a:ext cx="10972800" cy="310896"/>
          </a:xfrm>
          <a:prstGeom prst="rect">
            <a:avLst/>
          </a:prstGeom>
          <a:noFill/>
          <a:ln/>
        </p:spPr>
        <p:txBody>
          <a:bodyPr wrap="square" lIns="0" tIns="0" rIns="0" bIns="0" rtlCol="0" anchor="ctr"/>
          <a:lstStyle/>
          <a:p>
            <a:pPr marL="0" indent="0">
              <a:buNone/>
            </a:pPr>
            <a:r>
              <a:rPr lang="en-US" sz="1300" dirty="0">
                <a:solidFill>
                  <a:srgbClr val="6B7280"/>
                </a:solidFill>
                <a:latin typeface="Aptos" pitchFamily="34" charset="0"/>
                <a:ea typeface="Aptos" pitchFamily="34" charset="-122"/>
                <a:cs typeface="Aptos" pitchFamily="34" charset="-120"/>
              </a:rPr>
              <a:t>From cryptographic discovery to explainable migration decisions</a:t>
            </a:r>
            <a:endParaRPr lang="en-US" sz="1300" dirty="0"/>
          </a:p>
        </p:txBody>
      </p:sp>
      <p:sp>
        <p:nvSpPr>
          <p:cNvPr id="5" name="Shape 3"/>
          <p:cNvSpPr/>
          <p:nvPr/>
        </p:nvSpPr>
        <p:spPr>
          <a:xfrm>
            <a:off x="502920" y="1627632"/>
            <a:ext cx="11201400" cy="530352"/>
          </a:xfrm>
          <a:prstGeom prst="roundRect">
            <a:avLst>
              <a:gd name="adj" fmla="val 6897"/>
            </a:avLst>
          </a:prstGeom>
          <a:solidFill>
            <a:srgbClr val="EAF5FB"/>
          </a:solidFill>
          <a:ln w="12700">
            <a:solidFill>
              <a:srgbClr val="C7E8F7"/>
            </a:solidFill>
            <a:prstDash val="solid"/>
          </a:ln>
        </p:spPr>
        <p:txBody>
          <a:bodyPr/>
          <a:lstStyle/>
          <a:p>
            <a:endParaRPr lang="en-US"/>
          </a:p>
        </p:txBody>
      </p:sp>
      <p:sp>
        <p:nvSpPr>
          <p:cNvPr id="6" name="Text 4"/>
          <p:cNvSpPr/>
          <p:nvPr/>
        </p:nvSpPr>
        <p:spPr>
          <a:xfrm>
            <a:off x="713232" y="1792224"/>
            <a:ext cx="10744200" cy="201168"/>
          </a:xfrm>
          <a:prstGeom prst="rect">
            <a:avLst/>
          </a:prstGeom>
          <a:noFill/>
          <a:ln/>
        </p:spPr>
        <p:txBody>
          <a:bodyPr wrap="square" lIns="0" tIns="0" rIns="0" bIns="0" rtlCol="0" anchor="ctr">
            <a:normAutofit/>
          </a:bodyPr>
          <a:lstStyle/>
          <a:p>
            <a:pPr marL="0" indent="0">
              <a:buNone/>
            </a:pPr>
            <a:r>
              <a:rPr lang="en-US" sz="1200" b="1" dirty="0">
                <a:solidFill>
                  <a:srgbClr val="002060"/>
                </a:solidFill>
                <a:latin typeface="Aptos" pitchFamily="34" charset="0"/>
                <a:ea typeface="Aptos" pitchFamily="34" charset="-122"/>
                <a:cs typeface="Aptos" pitchFamily="34" charset="-120"/>
              </a:rPr>
              <a:t>Problem  </a:t>
            </a:r>
            <a:r>
              <a:rPr lang="en-US" sz="1200" dirty="0">
                <a:solidFill>
                  <a:srgbClr val="4B5563"/>
                </a:solidFill>
                <a:latin typeface="Aptos" pitchFamily="34" charset="0"/>
                <a:ea typeface="Aptos" pitchFamily="34" charset="-122"/>
                <a:cs typeface="Aptos" pitchFamily="34" charset="-120"/>
              </a:rPr>
              <a:t>Discovery identifies algorithms and locations, but not what should move first, what limits readiness, or what action should follow.</a:t>
            </a:r>
            <a:endParaRPr lang="en-US" sz="1200" dirty="0"/>
          </a:p>
        </p:txBody>
      </p:sp>
      <p:sp>
        <p:nvSpPr>
          <p:cNvPr id="7" name="Shape 5"/>
          <p:cNvSpPr/>
          <p:nvPr/>
        </p:nvSpPr>
        <p:spPr>
          <a:xfrm>
            <a:off x="502920" y="2395728"/>
            <a:ext cx="3474720" cy="1463040"/>
          </a:xfrm>
          <a:prstGeom prst="roundRect">
            <a:avLst>
              <a:gd name="adj" fmla="val 5000"/>
            </a:avLst>
          </a:prstGeom>
          <a:solidFill>
            <a:srgbClr val="FFFFFF"/>
          </a:solidFill>
          <a:ln w="12700">
            <a:solidFill>
              <a:srgbClr val="D7E2EE"/>
            </a:solidFill>
            <a:prstDash val="solid"/>
          </a:ln>
          <a:effectLst>
            <a:outerShdw blurRad="15240" dist="6350" dir="2700000" algn="bl" rotWithShape="0">
              <a:srgbClr val="000000">
                <a:alpha val="14000"/>
              </a:srgbClr>
            </a:outerShdw>
          </a:effectLst>
        </p:spPr>
        <p:txBody>
          <a:bodyPr/>
          <a:lstStyle/>
          <a:p>
            <a:endParaRPr lang="en-US"/>
          </a:p>
        </p:txBody>
      </p:sp>
      <p:sp>
        <p:nvSpPr>
          <p:cNvPr id="8" name="Shape 6"/>
          <p:cNvSpPr/>
          <p:nvPr/>
        </p:nvSpPr>
        <p:spPr>
          <a:xfrm>
            <a:off x="667512" y="2551176"/>
            <a:ext cx="438912" cy="438912"/>
          </a:xfrm>
          <a:prstGeom prst="roundRect">
            <a:avLst>
              <a:gd name="adj" fmla="val 12500"/>
            </a:avLst>
          </a:prstGeom>
          <a:solidFill>
            <a:srgbClr val="EAF5FB"/>
          </a:solidFill>
          <a:ln w="12700">
            <a:solidFill>
              <a:srgbClr val="EAF5FB"/>
            </a:solidFill>
            <a:prstDash val="solid"/>
          </a:ln>
        </p:spPr>
        <p:txBody>
          <a:bodyPr/>
          <a:lstStyle/>
          <a:p>
            <a:endParaRPr lang="en-US"/>
          </a:p>
        </p:txBody>
      </p:sp>
      <p:pic>
        <p:nvPicPr>
          <p:cNvPr id="9" name="Image 0" descr="/mnt/data/poc_work/tmpl/ppt/media/image3.png"/>
          <p:cNvPicPr>
            <a:picLocks noChangeAspect="1"/>
          </p:cNvPicPr>
          <p:nvPr/>
        </p:nvPicPr>
        <p:blipFill>
          <a:blip r:embed="rId3"/>
          <a:stretch>
            <a:fillRect/>
          </a:stretch>
        </p:blipFill>
        <p:spPr>
          <a:xfrm>
            <a:off x="731520" y="2615184"/>
            <a:ext cx="310896" cy="310896"/>
          </a:xfrm>
          <a:prstGeom prst="rect">
            <a:avLst/>
          </a:prstGeom>
        </p:spPr>
      </p:pic>
      <p:sp>
        <p:nvSpPr>
          <p:cNvPr id="10" name="Text 7"/>
          <p:cNvSpPr/>
          <p:nvPr/>
        </p:nvSpPr>
        <p:spPr>
          <a:xfrm>
            <a:off x="1207008" y="2551176"/>
            <a:ext cx="2615184" cy="256032"/>
          </a:xfrm>
          <a:prstGeom prst="rect">
            <a:avLst/>
          </a:prstGeom>
          <a:noFill/>
          <a:ln/>
        </p:spPr>
        <p:txBody>
          <a:bodyPr wrap="square" lIns="0" tIns="0" rIns="0" bIns="0" rtlCol="0" anchor="ctr"/>
          <a:lstStyle/>
          <a:p>
            <a:pPr marL="0" indent="0">
              <a:buNone/>
            </a:pPr>
            <a:r>
              <a:rPr lang="en-US" sz="1400" b="1" dirty="0">
                <a:solidFill>
                  <a:srgbClr val="141B41"/>
                </a:solidFill>
                <a:latin typeface="Aptos Display" pitchFamily="34" charset="0"/>
                <a:ea typeface="Aptos Display" pitchFamily="34" charset="-122"/>
                <a:cs typeface="Aptos Display" pitchFamily="34" charset="-120"/>
              </a:rPr>
              <a:t>Problem &amp; Objective</a:t>
            </a:r>
            <a:endParaRPr lang="en-US" sz="1400" dirty="0"/>
          </a:p>
        </p:txBody>
      </p:sp>
      <p:sp>
        <p:nvSpPr>
          <p:cNvPr id="11" name="Text 8"/>
          <p:cNvSpPr/>
          <p:nvPr/>
        </p:nvSpPr>
        <p:spPr>
          <a:xfrm>
            <a:off x="704088" y="3081528"/>
            <a:ext cx="3072384" cy="658368"/>
          </a:xfrm>
          <a:prstGeom prst="rect">
            <a:avLst/>
          </a:prstGeom>
          <a:noFill/>
          <a:ln/>
        </p:spPr>
        <p:txBody>
          <a:bodyPr wrap="square" lIns="254" tIns="254" rIns="254" bIns="254" rtlCol="0" anchor="ctr"/>
          <a:lstStyle/>
          <a:p>
            <a:pPr marL="152400" indent="-152400">
              <a:buSzPct val="100000"/>
              <a:buChar char="•"/>
            </a:pPr>
            <a:r>
              <a:rPr lang="en-US" sz="1050" dirty="0">
                <a:solidFill>
                  <a:srgbClr val="4B5563"/>
                </a:solidFill>
                <a:latin typeface="Aptos" pitchFamily="34" charset="0"/>
                <a:ea typeface="Aptos" pitchFamily="34" charset="-122"/>
                <a:cs typeface="Aptos" pitchFamily="34" charset="-120"/>
              </a:rPr>
              <a:t>Transform CBOM and runtime evidence into migration-readiness decisions</a:t>
            </a:r>
            <a:endParaRPr lang="en-US" sz="1050" dirty="0"/>
          </a:p>
          <a:p>
            <a:pPr marL="152400" indent="-152400">
              <a:buSzPct val="100000"/>
              <a:buChar char="•"/>
            </a:pPr>
            <a:r>
              <a:rPr lang="en-US" sz="1050" dirty="0">
                <a:solidFill>
                  <a:srgbClr val="4B5563"/>
                </a:solidFill>
                <a:latin typeface="Aptos" pitchFamily="34" charset="0"/>
                <a:ea typeface="Aptos" pitchFamily="34" charset="-122"/>
                <a:cs typeface="Aptos" pitchFamily="34" charset="-120"/>
              </a:rPr>
              <a:t>Expose readiness, evidence confidence, priority and next actions</a:t>
            </a:r>
            <a:endParaRPr lang="en-US" sz="1050" dirty="0"/>
          </a:p>
        </p:txBody>
      </p:sp>
      <p:sp>
        <p:nvSpPr>
          <p:cNvPr id="12" name="Shape 9"/>
          <p:cNvSpPr/>
          <p:nvPr/>
        </p:nvSpPr>
        <p:spPr>
          <a:xfrm>
            <a:off x="502920" y="2395728"/>
            <a:ext cx="45720" cy="1463040"/>
          </a:xfrm>
          <a:prstGeom prst="rect">
            <a:avLst/>
          </a:prstGeom>
          <a:solidFill>
            <a:srgbClr val="007CC3"/>
          </a:solidFill>
          <a:ln w="12700">
            <a:solidFill>
              <a:srgbClr val="007CC3"/>
            </a:solidFill>
            <a:prstDash val="solid"/>
          </a:ln>
        </p:spPr>
        <p:txBody>
          <a:bodyPr/>
          <a:lstStyle/>
          <a:p>
            <a:endParaRPr lang="en-US"/>
          </a:p>
        </p:txBody>
      </p:sp>
      <p:sp>
        <p:nvSpPr>
          <p:cNvPr id="13" name="Shape 10"/>
          <p:cNvSpPr/>
          <p:nvPr/>
        </p:nvSpPr>
        <p:spPr>
          <a:xfrm>
            <a:off x="4169664" y="2395728"/>
            <a:ext cx="3886200" cy="1463040"/>
          </a:xfrm>
          <a:prstGeom prst="roundRect">
            <a:avLst>
              <a:gd name="adj" fmla="val 5000"/>
            </a:avLst>
          </a:prstGeom>
          <a:solidFill>
            <a:srgbClr val="FFFFFF"/>
          </a:solidFill>
          <a:ln w="12700">
            <a:solidFill>
              <a:srgbClr val="D7E2EE"/>
            </a:solidFill>
            <a:prstDash val="solid"/>
          </a:ln>
          <a:effectLst/>
        </p:spPr>
        <p:txBody>
          <a:bodyPr/>
          <a:lstStyle/>
          <a:p>
            <a:endParaRPr lang="en-US"/>
          </a:p>
        </p:txBody>
      </p:sp>
      <p:sp>
        <p:nvSpPr>
          <p:cNvPr id="14" name="Shape 11"/>
          <p:cNvSpPr/>
          <p:nvPr/>
        </p:nvSpPr>
        <p:spPr>
          <a:xfrm>
            <a:off x="4334256" y="2551176"/>
            <a:ext cx="438912" cy="438912"/>
          </a:xfrm>
          <a:prstGeom prst="roundRect">
            <a:avLst>
              <a:gd name="adj" fmla="val 12500"/>
            </a:avLst>
          </a:prstGeom>
          <a:solidFill>
            <a:srgbClr val="EAF5FB"/>
          </a:solidFill>
          <a:ln w="12700">
            <a:solidFill>
              <a:srgbClr val="EAF5FB"/>
            </a:solidFill>
            <a:prstDash val="solid"/>
          </a:ln>
        </p:spPr>
        <p:txBody>
          <a:bodyPr/>
          <a:lstStyle/>
          <a:p>
            <a:endParaRPr lang="en-US"/>
          </a:p>
        </p:txBody>
      </p:sp>
      <p:pic>
        <p:nvPicPr>
          <p:cNvPr id="15" name="Image 1" descr="/mnt/data/poc_work/tmpl/ppt/media/image4.png"/>
          <p:cNvPicPr>
            <a:picLocks noChangeAspect="1"/>
          </p:cNvPicPr>
          <p:nvPr/>
        </p:nvPicPr>
        <p:blipFill>
          <a:blip r:embed="rId4"/>
          <a:stretch>
            <a:fillRect/>
          </a:stretch>
        </p:blipFill>
        <p:spPr>
          <a:xfrm>
            <a:off x="4398264" y="2615184"/>
            <a:ext cx="310896" cy="310896"/>
          </a:xfrm>
          <a:prstGeom prst="rect">
            <a:avLst/>
          </a:prstGeom>
        </p:spPr>
      </p:pic>
      <p:sp>
        <p:nvSpPr>
          <p:cNvPr id="16" name="Text 12"/>
          <p:cNvSpPr/>
          <p:nvPr/>
        </p:nvSpPr>
        <p:spPr>
          <a:xfrm>
            <a:off x="4873752" y="2551176"/>
            <a:ext cx="3026664" cy="256032"/>
          </a:xfrm>
          <a:prstGeom prst="rect">
            <a:avLst/>
          </a:prstGeom>
          <a:noFill/>
          <a:ln/>
        </p:spPr>
        <p:txBody>
          <a:bodyPr wrap="square" lIns="0" tIns="0" rIns="0" bIns="0" rtlCol="0" anchor="ctr"/>
          <a:lstStyle/>
          <a:p>
            <a:pPr marL="0" indent="0">
              <a:buNone/>
            </a:pPr>
            <a:r>
              <a:rPr lang="en-US" sz="1400" b="1" dirty="0">
                <a:solidFill>
                  <a:srgbClr val="141B41"/>
                </a:solidFill>
                <a:latin typeface="Aptos Display" pitchFamily="34" charset="0"/>
                <a:ea typeface="Aptos Display" pitchFamily="34" charset="-122"/>
                <a:cs typeface="Aptos Display" pitchFamily="34" charset="-120"/>
              </a:rPr>
              <a:t>Evidence-to-Decision Approach</a:t>
            </a:r>
            <a:endParaRPr lang="en-US" sz="1400" dirty="0"/>
          </a:p>
        </p:txBody>
      </p:sp>
      <p:sp>
        <p:nvSpPr>
          <p:cNvPr id="17" name="Text 13"/>
          <p:cNvSpPr/>
          <p:nvPr/>
        </p:nvSpPr>
        <p:spPr>
          <a:xfrm>
            <a:off x="4370832" y="3081528"/>
            <a:ext cx="3483864" cy="658368"/>
          </a:xfrm>
          <a:prstGeom prst="rect">
            <a:avLst/>
          </a:prstGeom>
          <a:noFill/>
          <a:ln/>
        </p:spPr>
        <p:txBody>
          <a:bodyPr wrap="square" lIns="254" tIns="254" rIns="254" bIns="254" rtlCol="0" anchor="ctr"/>
          <a:lstStyle/>
          <a:p>
            <a:pPr marL="152400" indent="-152400">
              <a:buSzPct val="100000"/>
              <a:buChar char="•"/>
            </a:pPr>
            <a:r>
              <a:rPr lang="en-US" sz="1050" dirty="0">
                <a:solidFill>
                  <a:srgbClr val="4B5563"/>
                </a:solidFill>
                <a:latin typeface="Aptos" pitchFamily="34" charset="0"/>
                <a:ea typeface="Aptos" pitchFamily="34" charset="-122"/>
                <a:cs typeface="Aptos" pitchFamily="34" charset="-120"/>
              </a:rPr>
              <a:t>CBOM &amp; runtime evidence</a:t>
            </a:r>
            <a:endParaRPr lang="en-US" sz="1050" dirty="0"/>
          </a:p>
          <a:p>
            <a:pPr marL="152400" indent="-152400">
              <a:buSzPct val="100000"/>
              <a:buChar char="•"/>
            </a:pPr>
            <a:r>
              <a:rPr lang="en-US" sz="1050" dirty="0">
                <a:solidFill>
                  <a:srgbClr val="4B5563"/>
                </a:solidFill>
                <a:latin typeface="Aptos" pitchFamily="34" charset="0"/>
                <a:ea typeface="Aptos" pitchFamily="34" charset="-122"/>
                <a:cs typeface="Aptos" pitchFamily="34" charset="-120"/>
              </a:rPr>
              <a:t>Component mapping and assessment</a:t>
            </a:r>
            <a:endParaRPr lang="en-US" sz="1050" dirty="0"/>
          </a:p>
          <a:p>
            <a:pPr marL="152400" indent="-152400">
              <a:buSzPct val="100000"/>
              <a:buChar char="•"/>
            </a:pPr>
            <a:r>
              <a:rPr lang="en-US" sz="1050" dirty="0">
                <a:solidFill>
                  <a:srgbClr val="4B5563"/>
                </a:solidFill>
                <a:latin typeface="Aptos" pitchFamily="34" charset="0"/>
                <a:ea typeface="Aptos" pitchFamily="34" charset="-122"/>
                <a:cs typeface="Aptos" pitchFamily="34" charset="-120"/>
              </a:rPr>
              <a:t>Priority, recommendations and reassessment</a:t>
            </a:r>
            <a:endParaRPr lang="en-US" sz="1050" dirty="0"/>
          </a:p>
        </p:txBody>
      </p:sp>
      <p:sp>
        <p:nvSpPr>
          <p:cNvPr id="18" name="Shape 14"/>
          <p:cNvSpPr/>
          <p:nvPr/>
        </p:nvSpPr>
        <p:spPr>
          <a:xfrm>
            <a:off x="4169664" y="2395728"/>
            <a:ext cx="45720" cy="1463040"/>
          </a:xfrm>
          <a:prstGeom prst="rect">
            <a:avLst/>
          </a:prstGeom>
          <a:solidFill>
            <a:srgbClr val="00A3E0"/>
          </a:solidFill>
          <a:ln w="12700">
            <a:solidFill>
              <a:srgbClr val="00A3E0"/>
            </a:solidFill>
            <a:prstDash val="solid"/>
          </a:ln>
        </p:spPr>
        <p:txBody>
          <a:bodyPr/>
          <a:lstStyle/>
          <a:p>
            <a:endParaRPr lang="en-US"/>
          </a:p>
        </p:txBody>
      </p:sp>
      <p:sp>
        <p:nvSpPr>
          <p:cNvPr id="19" name="Shape 15"/>
          <p:cNvSpPr/>
          <p:nvPr/>
        </p:nvSpPr>
        <p:spPr>
          <a:xfrm>
            <a:off x="8247888" y="2395728"/>
            <a:ext cx="3456432" cy="1463040"/>
          </a:xfrm>
          <a:prstGeom prst="roundRect">
            <a:avLst>
              <a:gd name="adj" fmla="val 5000"/>
            </a:avLst>
          </a:prstGeom>
          <a:solidFill>
            <a:srgbClr val="FFFFFF"/>
          </a:solidFill>
          <a:ln w="12700">
            <a:solidFill>
              <a:srgbClr val="D7E2EE"/>
            </a:solidFill>
            <a:prstDash val="solid"/>
          </a:ln>
          <a:effectLst/>
        </p:spPr>
        <p:txBody>
          <a:bodyPr/>
          <a:lstStyle/>
          <a:p>
            <a:endParaRPr lang="en-US"/>
          </a:p>
        </p:txBody>
      </p:sp>
      <p:sp>
        <p:nvSpPr>
          <p:cNvPr id="20" name="Shape 16"/>
          <p:cNvSpPr/>
          <p:nvPr/>
        </p:nvSpPr>
        <p:spPr>
          <a:xfrm>
            <a:off x="8412480" y="2551176"/>
            <a:ext cx="438912" cy="438912"/>
          </a:xfrm>
          <a:prstGeom prst="roundRect">
            <a:avLst>
              <a:gd name="adj" fmla="val 12500"/>
            </a:avLst>
          </a:prstGeom>
          <a:solidFill>
            <a:srgbClr val="EAF5FB"/>
          </a:solidFill>
          <a:ln w="12700">
            <a:solidFill>
              <a:srgbClr val="EAF5FB"/>
            </a:solidFill>
            <a:prstDash val="solid"/>
          </a:ln>
        </p:spPr>
        <p:txBody>
          <a:bodyPr/>
          <a:lstStyle/>
          <a:p>
            <a:endParaRPr lang="en-US"/>
          </a:p>
        </p:txBody>
      </p:sp>
      <p:pic>
        <p:nvPicPr>
          <p:cNvPr id="21" name="Image 2" descr="/mnt/data/poc_work/tmpl/ppt/media/image5.png"/>
          <p:cNvPicPr>
            <a:picLocks noChangeAspect="1"/>
          </p:cNvPicPr>
          <p:nvPr/>
        </p:nvPicPr>
        <p:blipFill>
          <a:blip r:embed="rId5"/>
          <a:stretch>
            <a:fillRect/>
          </a:stretch>
        </p:blipFill>
        <p:spPr>
          <a:xfrm>
            <a:off x="8476488" y="2615184"/>
            <a:ext cx="310896" cy="310896"/>
          </a:xfrm>
          <a:prstGeom prst="rect">
            <a:avLst/>
          </a:prstGeom>
        </p:spPr>
      </p:pic>
      <p:sp>
        <p:nvSpPr>
          <p:cNvPr id="22" name="Text 17"/>
          <p:cNvSpPr/>
          <p:nvPr/>
        </p:nvSpPr>
        <p:spPr>
          <a:xfrm>
            <a:off x="8951976" y="2551176"/>
            <a:ext cx="2596896" cy="256032"/>
          </a:xfrm>
          <a:prstGeom prst="rect">
            <a:avLst/>
          </a:prstGeom>
          <a:noFill/>
          <a:ln/>
        </p:spPr>
        <p:txBody>
          <a:bodyPr wrap="square" lIns="0" tIns="0" rIns="0" bIns="0" rtlCol="0" anchor="ctr"/>
          <a:lstStyle/>
          <a:p>
            <a:pPr marL="0" indent="0">
              <a:buNone/>
            </a:pPr>
            <a:r>
              <a:rPr lang="en-US" sz="1400" b="1" dirty="0">
                <a:solidFill>
                  <a:srgbClr val="141B41"/>
                </a:solidFill>
                <a:latin typeface="Aptos Display" pitchFamily="34" charset="0"/>
                <a:ea typeface="Aptos Display" pitchFamily="34" charset="-122"/>
                <a:cs typeface="Aptos Display" pitchFamily="34" charset="-120"/>
              </a:rPr>
              <a:t>Why FCAF</a:t>
            </a:r>
            <a:endParaRPr lang="en-US" sz="1400" dirty="0"/>
          </a:p>
        </p:txBody>
      </p:sp>
      <p:sp>
        <p:nvSpPr>
          <p:cNvPr id="23" name="Text 18"/>
          <p:cNvSpPr/>
          <p:nvPr/>
        </p:nvSpPr>
        <p:spPr>
          <a:xfrm>
            <a:off x="8449056" y="3081528"/>
            <a:ext cx="3054096" cy="658368"/>
          </a:xfrm>
          <a:prstGeom prst="rect">
            <a:avLst/>
          </a:prstGeom>
          <a:noFill/>
          <a:ln/>
        </p:spPr>
        <p:txBody>
          <a:bodyPr wrap="square" lIns="254" tIns="254" rIns="254" bIns="254" rtlCol="0" anchor="ctr"/>
          <a:lstStyle/>
          <a:p>
            <a:pPr marL="152400" indent="-152400">
              <a:buSzPct val="100000"/>
              <a:buChar char="•"/>
            </a:pPr>
            <a:r>
              <a:rPr lang="en-US" sz="1050" dirty="0">
                <a:solidFill>
                  <a:srgbClr val="4B5563"/>
                </a:solidFill>
                <a:latin typeface="Aptos" pitchFamily="34" charset="0"/>
                <a:ea typeface="Aptos" pitchFamily="34" charset="-122"/>
                <a:cs typeface="Aptos" pitchFamily="34" charset="-120"/>
              </a:rPr>
              <a:t>Evidence-traceable and explainable</a:t>
            </a:r>
            <a:endParaRPr lang="en-US" sz="1050" dirty="0"/>
          </a:p>
          <a:p>
            <a:pPr marL="152400" indent="-152400">
              <a:buSzPct val="100000"/>
              <a:buChar char="•"/>
            </a:pPr>
            <a:r>
              <a:rPr lang="en-US" sz="1050" dirty="0">
                <a:solidFill>
                  <a:srgbClr val="4B5563"/>
                </a:solidFill>
                <a:latin typeface="Aptos" pitchFamily="34" charset="0"/>
                <a:ea typeface="Aptos" pitchFamily="34" charset="-122"/>
                <a:cs typeface="Aptos" pitchFamily="34" charset="-120"/>
              </a:rPr>
              <a:t>Not Assessed remains visible—not zero</a:t>
            </a:r>
            <a:endParaRPr lang="en-US" sz="1050" dirty="0"/>
          </a:p>
          <a:p>
            <a:pPr marL="152400" indent="-152400">
              <a:buSzPct val="100000"/>
              <a:buChar char="•"/>
            </a:pPr>
            <a:r>
              <a:rPr lang="en-US" sz="1050" dirty="0">
                <a:solidFill>
                  <a:srgbClr val="4B5563"/>
                </a:solidFill>
                <a:latin typeface="Aptos" pitchFamily="34" charset="0"/>
                <a:ea typeface="Aptos" pitchFamily="34" charset="-122"/>
                <a:cs typeface="Aptos" pitchFamily="34" charset="-120"/>
              </a:rPr>
              <a:t>Technical readiness is separate from business priority</a:t>
            </a:r>
            <a:endParaRPr lang="en-US" sz="1050" dirty="0"/>
          </a:p>
        </p:txBody>
      </p:sp>
      <p:sp>
        <p:nvSpPr>
          <p:cNvPr id="24" name="Shape 19"/>
          <p:cNvSpPr/>
          <p:nvPr/>
        </p:nvSpPr>
        <p:spPr>
          <a:xfrm>
            <a:off x="8247888" y="2395728"/>
            <a:ext cx="45720" cy="1463040"/>
          </a:xfrm>
          <a:prstGeom prst="rect">
            <a:avLst/>
          </a:prstGeom>
          <a:solidFill>
            <a:srgbClr val="2E8B57"/>
          </a:solidFill>
          <a:ln w="12700">
            <a:solidFill>
              <a:srgbClr val="2E8B57"/>
            </a:solidFill>
            <a:prstDash val="solid"/>
          </a:ln>
        </p:spPr>
        <p:txBody>
          <a:bodyPr/>
          <a:lstStyle/>
          <a:p>
            <a:endParaRPr lang="en-US"/>
          </a:p>
        </p:txBody>
      </p:sp>
      <p:sp>
        <p:nvSpPr>
          <p:cNvPr id="25" name="Text 20"/>
          <p:cNvSpPr/>
          <p:nvPr/>
        </p:nvSpPr>
        <p:spPr>
          <a:xfrm>
            <a:off x="685800" y="4251960"/>
            <a:ext cx="1234440" cy="210312"/>
          </a:xfrm>
          <a:prstGeom prst="rect">
            <a:avLst/>
          </a:prstGeom>
          <a:noFill/>
          <a:ln/>
        </p:spPr>
        <p:txBody>
          <a:bodyPr wrap="square" lIns="0" tIns="0" rIns="0" bIns="0" rtlCol="0" anchor="ctr"/>
          <a:lstStyle/>
          <a:p>
            <a:pPr marL="0" indent="0" algn="ctr">
              <a:buNone/>
            </a:pPr>
            <a:r>
              <a:rPr lang="en-US" sz="900" b="1" dirty="0">
                <a:solidFill>
                  <a:srgbClr val="007CC3"/>
                </a:solidFill>
                <a:latin typeface="Aptos" pitchFamily="34" charset="0"/>
                <a:ea typeface="Aptos" pitchFamily="34" charset="-122"/>
                <a:cs typeface="Aptos" pitchFamily="34" charset="-120"/>
              </a:rPr>
              <a:t>EVIDENCE</a:t>
            </a:r>
            <a:endParaRPr lang="en-US" sz="900" dirty="0"/>
          </a:p>
        </p:txBody>
      </p:sp>
      <p:sp>
        <p:nvSpPr>
          <p:cNvPr id="26" name="Text 21"/>
          <p:cNvSpPr/>
          <p:nvPr/>
        </p:nvSpPr>
        <p:spPr>
          <a:xfrm>
            <a:off x="2880360" y="4251960"/>
            <a:ext cx="1234440" cy="210312"/>
          </a:xfrm>
          <a:prstGeom prst="rect">
            <a:avLst/>
          </a:prstGeom>
          <a:noFill/>
          <a:ln/>
        </p:spPr>
        <p:txBody>
          <a:bodyPr wrap="square" lIns="0" tIns="0" rIns="0" bIns="0" rtlCol="0" anchor="ctr"/>
          <a:lstStyle/>
          <a:p>
            <a:pPr marL="0" indent="0" algn="ctr">
              <a:buNone/>
            </a:pPr>
            <a:r>
              <a:rPr lang="en-US" sz="900" b="1" dirty="0">
                <a:solidFill>
                  <a:srgbClr val="007CC3"/>
                </a:solidFill>
                <a:latin typeface="Aptos" pitchFamily="34" charset="0"/>
                <a:ea typeface="Aptos" pitchFamily="34" charset="-122"/>
                <a:cs typeface="Aptos" pitchFamily="34" charset="-120"/>
              </a:rPr>
              <a:t>CONTEXT</a:t>
            </a:r>
            <a:endParaRPr lang="en-US" sz="900" dirty="0"/>
          </a:p>
        </p:txBody>
      </p:sp>
      <p:sp>
        <p:nvSpPr>
          <p:cNvPr id="27" name="Text 22"/>
          <p:cNvSpPr/>
          <p:nvPr/>
        </p:nvSpPr>
        <p:spPr>
          <a:xfrm>
            <a:off x="5074920" y="4251960"/>
            <a:ext cx="1234440" cy="210312"/>
          </a:xfrm>
          <a:prstGeom prst="rect">
            <a:avLst/>
          </a:prstGeom>
          <a:noFill/>
          <a:ln/>
        </p:spPr>
        <p:txBody>
          <a:bodyPr wrap="square" lIns="0" tIns="0" rIns="0" bIns="0" rtlCol="0" anchor="ctr"/>
          <a:lstStyle/>
          <a:p>
            <a:pPr marL="0" indent="0" algn="ctr">
              <a:buNone/>
            </a:pPr>
            <a:r>
              <a:rPr lang="en-US" sz="900" b="1" dirty="0">
                <a:solidFill>
                  <a:srgbClr val="007CC3"/>
                </a:solidFill>
                <a:latin typeface="Aptos" pitchFamily="34" charset="0"/>
                <a:ea typeface="Aptos" pitchFamily="34" charset="-122"/>
                <a:cs typeface="Aptos" pitchFamily="34" charset="-120"/>
              </a:rPr>
              <a:t>ASSESS</a:t>
            </a:r>
            <a:endParaRPr lang="en-US" sz="900" dirty="0"/>
          </a:p>
        </p:txBody>
      </p:sp>
      <p:sp>
        <p:nvSpPr>
          <p:cNvPr id="28" name="Text 23"/>
          <p:cNvSpPr/>
          <p:nvPr/>
        </p:nvSpPr>
        <p:spPr>
          <a:xfrm>
            <a:off x="7269480" y="4251960"/>
            <a:ext cx="1234440" cy="210312"/>
          </a:xfrm>
          <a:prstGeom prst="rect">
            <a:avLst/>
          </a:prstGeom>
          <a:noFill/>
          <a:ln/>
        </p:spPr>
        <p:txBody>
          <a:bodyPr wrap="square" lIns="0" tIns="0" rIns="0" bIns="0" rtlCol="0" anchor="ctr"/>
          <a:lstStyle/>
          <a:p>
            <a:pPr marL="0" indent="0" algn="ctr">
              <a:buNone/>
            </a:pPr>
            <a:r>
              <a:rPr lang="en-US" sz="900" b="1" dirty="0">
                <a:solidFill>
                  <a:srgbClr val="007CC3"/>
                </a:solidFill>
                <a:latin typeface="Aptos" pitchFamily="34" charset="0"/>
                <a:ea typeface="Aptos" pitchFamily="34" charset="-122"/>
                <a:cs typeface="Aptos" pitchFamily="34" charset="-120"/>
              </a:rPr>
              <a:t>PRIORITISE</a:t>
            </a:r>
            <a:endParaRPr lang="en-US" sz="900" dirty="0"/>
          </a:p>
        </p:txBody>
      </p:sp>
      <p:sp>
        <p:nvSpPr>
          <p:cNvPr id="29" name="Text 24"/>
          <p:cNvSpPr/>
          <p:nvPr/>
        </p:nvSpPr>
        <p:spPr>
          <a:xfrm>
            <a:off x="9473184" y="4251960"/>
            <a:ext cx="1234440" cy="210312"/>
          </a:xfrm>
          <a:prstGeom prst="rect">
            <a:avLst/>
          </a:prstGeom>
          <a:noFill/>
          <a:ln/>
        </p:spPr>
        <p:txBody>
          <a:bodyPr wrap="square" lIns="0" tIns="0" rIns="0" bIns="0" rtlCol="0" anchor="ctr"/>
          <a:lstStyle/>
          <a:p>
            <a:pPr marL="0" indent="0" algn="ctr">
              <a:buNone/>
            </a:pPr>
            <a:r>
              <a:rPr lang="en-US" sz="900" b="1" dirty="0">
                <a:solidFill>
                  <a:srgbClr val="007CC3"/>
                </a:solidFill>
                <a:latin typeface="Aptos" pitchFamily="34" charset="0"/>
                <a:ea typeface="Aptos" pitchFamily="34" charset="-122"/>
                <a:cs typeface="Aptos" pitchFamily="34" charset="-120"/>
              </a:rPr>
              <a:t>PLAN</a:t>
            </a:r>
            <a:endParaRPr lang="en-US" sz="900" dirty="0"/>
          </a:p>
        </p:txBody>
      </p:sp>
      <p:sp>
        <p:nvSpPr>
          <p:cNvPr id="30" name="Shape 25"/>
          <p:cNvSpPr/>
          <p:nvPr/>
        </p:nvSpPr>
        <p:spPr>
          <a:xfrm>
            <a:off x="713232" y="4553712"/>
            <a:ext cx="1170432" cy="713232"/>
          </a:xfrm>
          <a:prstGeom prst="roundRect">
            <a:avLst>
              <a:gd name="adj" fmla="val 6410"/>
            </a:avLst>
          </a:prstGeom>
          <a:solidFill>
            <a:srgbClr val="EAF5FB"/>
          </a:solidFill>
          <a:ln w="12700">
            <a:solidFill>
              <a:srgbClr val="9DD8F0"/>
            </a:solidFill>
            <a:prstDash val="solid"/>
          </a:ln>
        </p:spPr>
        <p:txBody>
          <a:bodyPr/>
          <a:lstStyle/>
          <a:p>
            <a:endParaRPr lang="en-US"/>
          </a:p>
        </p:txBody>
      </p:sp>
      <p:sp>
        <p:nvSpPr>
          <p:cNvPr id="31" name="Text 26"/>
          <p:cNvSpPr/>
          <p:nvPr/>
        </p:nvSpPr>
        <p:spPr>
          <a:xfrm>
            <a:off x="786384" y="4727448"/>
            <a:ext cx="1024128" cy="310896"/>
          </a:xfrm>
          <a:prstGeom prst="rect">
            <a:avLst/>
          </a:prstGeom>
          <a:noFill/>
          <a:ln/>
        </p:spPr>
        <p:txBody>
          <a:bodyPr wrap="square" lIns="0" tIns="0" rIns="0" bIns="0" rtlCol="0" anchor="ctr">
            <a:normAutofit/>
          </a:bodyPr>
          <a:lstStyle/>
          <a:p>
            <a:pPr marL="0" indent="0" algn="ctr">
              <a:buNone/>
            </a:pPr>
            <a:r>
              <a:rPr lang="en-US" sz="950" b="1" dirty="0">
                <a:solidFill>
                  <a:srgbClr val="141B41"/>
                </a:solidFill>
                <a:latin typeface="Aptos" pitchFamily="34" charset="0"/>
                <a:ea typeface="Aptos" pitchFamily="34" charset="-122"/>
                <a:cs typeface="Aptos" pitchFamily="34" charset="-120"/>
              </a:rPr>
              <a:t>CBOM + runtime</a:t>
            </a:r>
            <a:endParaRPr lang="en-US" sz="950" dirty="0"/>
          </a:p>
        </p:txBody>
      </p:sp>
      <p:sp>
        <p:nvSpPr>
          <p:cNvPr id="32" name="Shape 27"/>
          <p:cNvSpPr/>
          <p:nvPr/>
        </p:nvSpPr>
        <p:spPr>
          <a:xfrm>
            <a:off x="2066544" y="4745736"/>
            <a:ext cx="420624" cy="310896"/>
          </a:xfrm>
          <a:prstGeom prst="chevron">
            <a:avLst/>
          </a:prstGeom>
          <a:solidFill>
            <a:srgbClr val="9AA5AF"/>
          </a:solidFill>
          <a:ln w="12700">
            <a:solidFill>
              <a:srgbClr val="9AA5AF"/>
            </a:solidFill>
            <a:prstDash val="solid"/>
          </a:ln>
        </p:spPr>
        <p:txBody>
          <a:bodyPr/>
          <a:lstStyle/>
          <a:p>
            <a:endParaRPr lang="en-US"/>
          </a:p>
        </p:txBody>
      </p:sp>
      <p:sp>
        <p:nvSpPr>
          <p:cNvPr id="33" name="Shape 28"/>
          <p:cNvSpPr/>
          <p:nvPr/>
        </p:nvSpPr>
        <p:spPr>
          <a:xfrm>
            <a:off x="2907792" y="4553712"/>
            <a:ext cx="1170432" cy="713232"/>
          </a:xfrm>
          <a:prstGeom prst="roundRect">
            <a:avLst>
              <a:gd name="adj" fmla="val 6410"/>
            </a:avLst>
          </a:prstGeom>
          <a:solidFill>
            <a:srgbClr val="EAF5FB"/>
          </a:solidFill>
          <a:ln w="12700">
            <a:solidFill>
              <a:srgbClr val="9DD8F0"/>
            </a:solidFill>
            <a:prstDash val="solid"/>
          </a:ln>
        </p:spPr>
        <p:txBody>
          <a:bodyPr/>
          <a:lstStyle/>
          <a:p>
            <a:endParaRPr lang="en-US"/>
          </a:p>
        </p:txBody>
      </p:sp>
      <p:sp>
        <p:nvSpPr>
          <p:cNvPr id="34" name="Text 29"/>
          <p:cNvSpPr/>
          <p:nvPr/>
        </p:nvSpPr>
        <p:spPr>
          <a:xfrm>
            <a:off x="2980944" y="4727448"/>
            <a:ext cx="1024128" cy="310896"/>
          </a:xfrm>
          <a:prstGeom prst="rect">
            <a:avLst/>
          </a:prstGeom>
          <a:noFill/>
          <a:ln/>
        </p:spPr>
        <p:txBody>
          <a:bodyPr wrap="square" lIns="0" tIns="0" rIns="0" bIns="0" rtlCol="0" anchor="ctr">
            <a:normAutofit/>
          </a:bodyPr>
          <a:lstStyle/>
          <a:p>
            <a:pPr marL="0" indent="0" algn="ctr">
              <a:buNone/>
            </a:pPr>
            <a:r>
              <a:rPr lang="en-US" sz="950" b="1" dirty="0">
                <a:solidFill>
                  <a:srgbClr val="141B41"/>
                </a:solidFill>
                <a:latin typeface="Aptos" pitchFamily="34" charset="0"/>
                <a:ea typeface="Aptos" pitchFamily="34" charset="-122"/>
                <a:cs typeface="Aptos" pitchFamily="34" charset="-120"/>
              </a:rPr>
              <a:t>Component mapping</a:t>
            </a:r>
            <a:endParaRPr lang="en-US" sz="950" dirty="0"/>
          </a:p>
        </p:txBody>
      </p:sp>
      <p:sp>
        <p:nvSpPr>
          <p:cNvPr id="35" name="Shape 30"/>
          <p:cNvSpPr/>
          <p:nvPr/>
        </p:nvSpPr>
        <p:spPr>
          <a:xfrm>
            <a:off x="4261104" y="4745736"/>
            <a:ext cx="420624" cy="310896"/>
          </a:xfrm>
          <a:prstGeom prst="chevron">
            <a:avLst/>
          </a:prstGeom>
          <a:solidFill>
            <a:srgbClr val="9AA5AF"/>
          </a:solidFill>
          <a:ln w="12700">
            <a:solidFill>
              <a:srgbClr val="9AA5AF"/>
            </a:solidFill>
            <a:prstDash val="solid"/>
          </a:ln>
        </p:spPr>
        <p:txBody>
          <a:bodyPr/>
          <a:lstStyle/>
          <a:p>
            <a:endParaRPr lang="en-US"/>
          </a:p>
        </p:txBody>
      </p:sp>
      <p:sp>
        <p:nvSpPr>
          <p:cNvPr id="36" name="Shape 31"/>
          <p:cNvSpPr/>
          <p:nvPr/>
        </p:nvSpPr>
        <p:spPr>
          <a:xfrm>
            <a:off x="5102352" y="4553712"/>
            <a:ext cx="1170432" cy="713232"/>
          </a:xfrm>
          <a:prstGeom prst="roundRect">
            <a:avLst>
              <a:gd name="adj" fmla="val 6410"/>
            </a:avLst>
          </a:prstGeom>
          <a:solidFill>
            <a:srgbClr val="EFF5FF"/>
          </a:solidFill>
          <a:ln w="12700">
            <a:solidFill>
              <a:srgbClr val="A8C9F1"/>
            </a:solidFill>
            <a:prstDash val="solid"/>
          </a:ln>
        </p:spPr>
        <p:txBody>
          <a:bodyPr/>
          <a:lstStyle/>
          <a:p>
            <a:endParaRPr lang="en-US"/>
          </a:p>
        </p:txBody>
      </p:sp>
      <p:sp>
        <p:nvSpPr>
          <p:cNvPr id="37" name="Text 32"/>
          <p:cNvSpPr/>
          <p:nvPr/>
        </p:nvSpPr>
        <p:spPr>
          <a:xfrm>
            <a:off x="5175504" y="4727448"/>
            <a:ext cx="1024128" cy="310896"/>
          </a:xfrm>
          <a:prstGeom prst="rect">
            <a:avLst/>
          </a:prstGeom>
          <a:noFill/>
          <a:ln/>
        </p:spPr>
        <p:txBody>
          <a:bodyPr wrap="square" lIns="0" tIns="0" rIns="0" bIns="0" rtlCol="0" anchor="ctr">
            <a:normAutofit/>
          </a:bodyPr>
          <a:lstStyle/>
          <a:p>
            <a:pPr marL="0" indent="0" algn="ctr">
              <a:buNone/>
            </a:pPr>
            <a:r>
              <a:rPr lang="en-US" sz="950" b="1" dirty="0">
                <a:solidFill>
                  <a:srgbClr val="141B41"/>
                </a:solidFill>
                <a:latin typeface="Aptos" pitchFamily="34" charset="0"/>
                <a:ea typeface="Aptos" pitchFamily="34" charset="-122"/>
                <a:cs typeface="Aptos" pitchFamily="34" charset="-120"/>
              </a:rPr>
              <a:t>Readiness + confidence</a:t>
            </a:r>
            <a:endParaRPr lang="en-US" sz="950" dirty="0"/>
          </a:p>
        </p:txBody>
      </p:sp>
      <p:sp>
        <p:nvSpPr>
          <p:cNvPr id="38" name="Shape 33"/>
          <p:cNvSpPr/>
          <p:nvPr/>
        </p:nvSpPr>
        <p:spPr>
          <a:xfrm>
            <a:off x="6455664" y="4745736"/>
            <a:ext cx="420624" cy="310896"/>
          </a:xfrm>
          <a:prstGeom prst="chevron">
            <a:avLst/>
          </a:prstGeom>
          <a:solidFill>
            <a:srgbClr val="9AA5AF"/>
          </a:solidFill>
          <a:ln w="12700">
            <a:solidFill>
              <a:srgbClr val="9AA5AF"/>
            </a:solidFill>
            <a:prstDash val="solid"/>
          </a:ln>
        </p:spPr>
        <p:txBody>
          <a:bodyPr/>
          <a:lstStyle/>
          <a:p>
            <a:endParaRPr lang="en-US"/>
          </a:p>
        </p:txBody>
      </p:sp>
      <p:sp>
        <p:nvSpPr>
          <p:cNvPr id="39" name="Shape 34"/>
          <p:cNvSpPr/>
          <p:nvPr/>
        </p:nvSpPr>
        <p:spPr>
          <a:xfrm>
            <a:off x="7296912" y="4553712"/>
            <a:ext cx="1170432" cy="713232"/>
          </a:xfrm>
          <a:prstGeom prst="roundRect">
            <a:avLst>
              <a:gd name="adj" fmla="val 6410"/>
            </a:avLst>
          </a:prstGeom>
          <a:solidFill>
            <a:srgbClr val="EFF5FF"/>
          </a:solidFill>
          <a:ln w="12700">
            <a:solidFill>
              <a:srgbClr val="A8C9F1"/>
            </a:solidFill>
            <a:prstDash val="solid"/>
          </a:ln>
        </p:spPr>
        <p:txBody>
          <a:bodyPr/>
          <a:lstStyle/>
          <a:p>
            <a:endParaRPr lang="en-US"/>
          </a:p>
        </p:txBody>
      </p:sp>
      <p:sp>
        <p:nvSpPr>
          <p:cNvPr id="40" name="Text 35"/>
          <p:cNvSpPr/>
          <p:nvPr/>
        </p:nvSpPr>
        <p:spPr>
          <a:xfrm>
            <a:off x="7370064" y="4727448"/>
            <a:ext cx="1024128" cy="310896"/>
          </a:xfrm>
          <a:prstGeom prst="rect">
            <a:avLst/>
          </a:prstGeom>
          <a:noFill/>
          <a:ln/>
        </p:spPr>
        <p:txBody>
          <a:bodyPr wrap="square" lIns="0" tIns="0" rIns="0" bIns="0" rtlCol="0" anchor="ctr">
            <a:normAutofit/>
          </a:bodyPr>
          <a:lstStyle/>
          <a:p>
            <a:pPr marL="0" indent="0" algn="ctr">
              <a:buNone/>
            </a:pPr>
            <a:r>
              <a:rPr lang="en-US" sz="950" b="1" dirty="0">
                <a:solidFill>
                  <a:srgbClr val="141B41"/>
                </a:solidFill>
                <a:latin typeface="Aptos" pitchFamily="34" charset="0"/>
                <a:ea typeface="Aptos" pitchFamily="34" charset="-122"/>
                <a:cs typeface="Aptos" pitchFamily="34" charset="-120"/>
              </a:rPr>
              <a:t>Risk + criticality</a:t>
            </a:r>
            <a:endParaRPr lang="en-US" sz="950" dirty="0"/>
          </a:p>
        </p:txBody>
      </p:sp>
      <p:sp>
        <p:nvSpPr>
          <p:cNvPr id="41" name="Shape 36"/>
          <p:cNvSpPr/>
          <p:nvPr/>
        </p:nvSpPr>
        <p:spPr>
          <a:xfrm>
            <a:off x="8650224" y="4745736"/>
            <a:ext cx="420624" cy="310896"/>
          </a:xfrm>
          <a:prstGeom prst="chevron">
            <a:avLst/>
          </a:prstGeom>
          <a:solidFill>
            <a:srgbClr val="9AA5AF"/>
          </a:solidFill>
          <a:ln w="12700">
            <a:solidFill>
              <a:srgbClr val="9AA5AF"/>
            </a:solidFill>
            <a:prstDash val="solid"/>
          </a:ln>
        </p:spPr>
        <p:txBody>
          <a:bodyPr/>
          <a:lstStyle/>
          <a:p>
            <a:endParaRPr lang="en-US"/>
          </a:p>
        </p:txBody>
      </p:sp>
      <p:sp>
        <p:nvSpPr>
          <p:cNvPr id="42" name="Shape 37"/>
          <p:cNvSpPr/>
          <p:nvPr/>
        </p:nvSpPr>
        <p:spPr>
          <a:xfrm>
            <a:off x="9491472" y="4553712"/>
            <a:ext cx="1170432" cy="713232"/>
          </a:xfrm>
          <a:prstGeom prst="roundRect">
            <a:avLst>
              <a:gd name="adj" fmla="val 6410"/>
            </a:avLst>
          </a:prstGeom>
          <a:solidFill>
            <a:srgbClr val="ECF8F2"/>
          </a:solidFill>
          <a:ln w="12700">
            <a:solidFill>
              <a:srgbClr val="A9D9C1"/>
            </a:solidFill>
            <a:prstDash val="solid"/>
          </a:ln>
        </p:spPr>
        <p:txBody>
          <a:bodyPr/>
          <a:lstStyle/>
          <a:p>
            <a:endParaRPr lang="en-US"/>
          </a:p>
        </p:txBody>
      </p:sp>
      <p:sp>
        <p:nvSpPr>
          <p:cNvPr id="43" name="Text 38"/>
          <p:cNvSpPr/>
          <p:nvPr/>
        </p:nvSpPr>
        <p:spPr>
          <a:xfrm>
            <a:off x="9564624" y="4727448"/>
            <a:ext cx="1024128" cy="310896"/>
          </a:xfrm>
          <a:prstGeom prst="rect">
            <a:avLst/>
          </a:prstGeom>
          <a:noFill/>
          <a:ln/>
        </p:spPr>
        <p:txBody>
          <a:bodyPr wrap="square" lIns="0" tIns="0" rIns="0" bIns="0" rtlCol="0" anchor="ctr">
            <a:normAutofit/>
          </a:bodyPr>
          <a:lstStyle/>
          <a:p>
            <a:pPr marL="0" indent="0" algn="ctr">
              <a:buNone/>
            </a:pPr>
            <a:r>
              <a:rPr lang="en-US" sz="950" b="1" dirty="0">
                <a:solidFill>
                  <a:srgbClr val="141B41"/>
                </a:solidFill>
                <a:latin typeface="Aptos" pitchFamily="34" charset="0"/>
                <a:ea typeface="Aptos" pitchFamily="34" charset="-122"/>
                <a:cs typeface="Aptos" pitchFamily="34" charset="-120"/>
              </a:rPr>
              <a:t>Actions + reassessment</a:t>
            </a:r>
            <a:endParaRPr lang="en-US" sz="950" dirty="0"/>
          </a:p>
        </p:txBody>
      </p:sp>
      <p:sp>
        <p:nvSpPr>
          <p:cNvPr id="44" name="Shape 39"/>
          <p:cNvSpPr/>
          <p:nvPr/>
        </p:nvSpPr>
        <p:spPr>
          <a:xfrm>
            <a:off x="502920" y="5696712"/>
            <a:ext cx="11201400" cy="457200"/>
          </a:xfrm>
          <a:prstGeom prst="roundRect">
            <a:avLst>
              <a:gd name="adj" fmla="val 10000"/>
            </a:avLst>
          </a:prstGeom>
          <a:solidFill>
            <a:srgbClr val="002060"/>
          </a:solidFill>
          <a:ln w="12700">
            <a:solidFill>
              <a:srgbClr val="002060"/>
            </a:solidFill>
            <a:prstDash val="solid"/>
          </a:ln>
        </p:spPr>
        <p:txBody>
          <a:bodyPr/>
          <a:lstStyle/>
          <a:p>
            <a:endParaRPr lang="en-US"/>
          </a:p>
        </p:txBody>
      </p:sp>
      <p:sp>
        <p:nvSpPr>
          <p:cNvPr id="45" name="Text 40"/>
          <p:cNvSpPr/>
          <p:nvPr/>
        </p:nvSpPr>
        <p:spPr>
          <a:xfrm>
            <a:off x="740664" y="5833872"/>
            <a:ext cx="10744200" cy="17373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Expected outcome: an evidence-driven method for moving from cryptographic inventory to prioritised migration actions.</a:t>
            </a:r>
            <a:endParaRPr lang="en-US" sz="1200" dirty="0"/>
          </a:p>
        </p:txBody>
      </p:sp>
      <p:sp>
        <p:nvSpPr>
          <p:cNvPr id="46" name="Slide Number Placeholder 0"/>
          <p:cNvSpPr>
            <a:spLocks noGrp="1"/>
          </p:cNvSpPr>
          <p:nvPr>
            <p:ph type="sldNum" sz="quarter" idx="4294967295"/>
          </p:nvPr>
        </p:nvSpPr>
        <p:spPr>
          <a:xfrm>
            <a:off x="11750040"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r"/>
            <a:fld id="{F7021451-1387-4CA6-816F-3879F97B5CBC}" type="slidenum">
              <a:rPr lang="en-US" b="0"/>
              <a:t>1</a:t>
            </a:fld>
            <a:endParaRPr lang="en-US"/>
          </a:p>
        </p:txBody>
      </p:sp>
      <p:pic>
        <p:nvPicPr>
          <p:cNvPr id="48" name="Picture 47">
            <a:extLst>
              <a:ext uri="{FF2B5EF4-FFF2-40B4-BE49-F238E27FC236}">
                <a16:creationId xmlns:a16="http://schemas.microsoft.com/office/drawing/2014/main" id="{CE3F5E64-D610-4432-0F41-5EA205212CCA}"/>
              </a:ext>
            </a:extLst>
          </p:cNvPr>
          <p:cNvPicPr>
            <a:picLocks noChangeAspect="1"/>
          </p:cNvPicPr>
          <p:nvPr/>
        </p:nvPicPr>
        <p:blipFill>
          <a:blip r:embed="rId6"/>
          <a:stretch>
            <a:fillRect/>
          </a:stretch>
        </p:blipFill>
        <p:spPr>
          <a:xfrm>
            <a:off x="-10668" y="-1202"/>
            <a:ext cx="12202668" cy="5899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621792"/>
            <a:ext cx="6858000" cy="201168"/>
          </a:xfrm>
          <a:prstGeom prst="rect">
            <a:avLst/>
          </a:prstGeom>
          <a:noFill/>
          <a:ln/>
        </p:spPr>
        <p:txBody>
          <a:bodyPr wrap="square" lIns="0" tIns="0" rIns="0" bIns="0" rtlCol="0" anchor="ctr"/>
          <a:lstStyle/>
          <a:p>
            <a:pPr marL="0" indent="0">
              <a:buNone/>
            </a:pPr>
            <a:r>
              <a:rPr lang="en-US" sz="1000" b="1" kern="0" spc="110" dirty="0">
                <a:solidFill>
                  <a:srgbClr val="007CC3"/>
                </a:solidFill>
                <a:latin typeface="Aptos" pitchFamily="34" charset="0"/>
                <a:ea typeface="Aptos" pitchFamily="34" charset="-122"/>
                <a:cs typeface="Aptos" pitchFamily="34" charset="-120"/>
              </a:rPr>
              <a:t>PROOF OF CONCEPT</a:t>
            </a:r>
            <a:endParaRPr lang="en-US" sz="1000" dirty="0"/>
          </a:p>
        </p:txBody>
      </p:sp>
      <p:sp>
        <p:nvSpPr>
          <p:cNvPr id="3" name="Text 1"/>
          <p:cNvSpPr/>
          <p:nvPr/>
        </p:nvSpPr>
        <p:spPr>
          <a:xfrm>
            <a:off x="502920" y="667512"/>
            <a:ext cx="10972800" cy="512064"/>
          </a:xfrm>
          <a:prstGeom prst="rect">
            <a:avLst/>
          </a:prstGeom>
          <a:noFill/>
          <a:ln/>
        </p:spPr>
        <p:txBody>
          <a:bodyPr wrap="square" lIns="0" tIns="0" rIns="0" bIns="0" rtlCol="0" anchor="ctr"/>
          <a:lstStyle/>
          <a:p>
            <a:pPr marL="0" indent="0">
              <a:buNone/>
            </a:pPr>
            <a:r>
              <a:rPr lang="en-US" sz="2600" b="1" dirty="0">
                <a:solidFill>
                  <a:srgbClr val="002060"/>
                </a:solidFill>
                <a:latin typeface="Aptos Display" pitchFamily="34" charset="0"/>
                <a:ea typeface="Aptos Display" pitchFamily="34" charset="-122"/>
                <a:cs typeface="Aptos Display" pitchFamily="34" charset="-120"/>
              </a:rPr>
              <a:t>FCAF Results and Recommended Next Step</a:t>
            </a:r>
            <a:endParaRPr lang="en-US" sz="2600" dirty="0"/>
          </a:p>
        </p:txBody>
      </p:sp>
      <p:sp>
        <p:nvSpPr>
          <p:cNvPr id="4" name="Text 2"/>
          <p:cNvSpPr/>
          <p:nvPr/>
        </p:nvSpPr>
        <p:spPr>
          <a:xfrm>
            <a:off x="502920" y="1197864"/>
            <a:ext cx="10972800" cy="310896"/>
          </a:xfrm>
          <a:prstGeom prst="rect">
            <a:avLst/>
          </a:prstGeom>
          <a:noFill/>
          <a:ln/>
        </p:spPr>
        <p:txBody>
          <a:bodyPr wrap="square" lIns="0" tIns="0" rIns="0" bIns="0" rtlCol="0" anchor="ctr"/>
          <a:lstStyle/>
          <a:p>
            <a:pPr marL="0" indent="0">
              <a:buNone/>
            </a:pPr>
            <a:r>
              <a:rPr lang="en-US" sz="1300" dirty="0">
                <a:solidFill>
                  <a:srgbClr val="6B7280"/>
                </a:solidFill>
                <a:latin typeface="Aptos" pitchFamily="34" charset="0"/>
                <a:ea typeface="Aptos" pitchFamily="34" charset="-122"/>
                <a:cs typeface="Aptos" pitchFamily="34" charset="-120"/>
              </a:rPr>
              <a:t>Controlled Payment Systems case study · Financial Systems scope</a:t>
            </a:r>
            <a:endParaRPr lang="en-US" sz="1300" dirty="0"/>
          </a:p>
        </p:txBody>
      </p:sp>
      <p:sp>
        <p:nvSpPr>
          <p:cNvPr id="5" name="Shape 3"/>
          <p:cNvSpPr/>
          <p:nvPr/>
        </p:nvSpPr>
        <p:spPr>
          <a:xfrm>
            <a:off x="502920"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6" name="Text 4"/>
          <p:cNvSpPr/>
          <p:nvPr/>
        </p:nvSpPr>
        <p:spPr>
          <a:xfrm>
            <a:off x="612648" y="1737360"/>
            <a:ext cx="1408176" cy="384048"/>
          </a:xfrm>
          <a:prstGeom prst="rect">
            <a:avLst/>
          </a:prstGeom>
          <a:noFill/>
          <a:ln/>
        </p:spPr>
        <p:txBody>
          <a:bodyPr wrap="square" lIns="0" tIns="0" rIns="0" bIns="0" rtlCol="0" anchor="ctr"/>
          <a:lstStyle/>
          <a:p>
            <a:pPr marL="0" indent="0" algn="ctr">
              <a:buNone/>
            </a:pPr>
            <a:r>
              <a:rPr lang="en-US" sz="2500" b="1" dirty="0">
                <a:solidFill>
                  <a:srgbClr val="007CC3"/>
                </a:solidFill>
                <a:latin typeface="Aptos Display" pitchFamily="34" charset="0"/>
                <a:ea typeface="Aptos Display" pitchFamily="34" charset="-122"/>
                <a:cs typeface="Aptos Display" pitchFamily="34" charset="-120"/>
              </a:rPr>
              <a:t>5</a:t>
            </a:r>
            <a:endParaRPr lang="en-US" sz="2500" dirty="0"/>
          </a:p>
        </p:txBody>
      </p:sp>
      <p:sp>
        <p:nvSpPr>
          <p:cNvPr id="7" name="Text 5"/>
          <p:cNvSpPr/>
          <p:nvPr/>
        </p:nvSpPr>
        <p:spPr>
          <a:xfrm>
            <a:off x="594360"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algorithm assets assessed</a:t>
            </a:r>
            <a:endParaRPr lang="en-US" sz="950" dirty="0"/>
          </a:p>
        </p:txBody>
      </p:sp>
      <p:sp>
        <p:nvSpPr>
          <p:cNvPr id="8" name="Shape 6"/>
          <p:cNvSpPr/>
          <p:nvPr/>
        </p:nvSpPr>
        <p:spPr>
          <a:xfrm>
            <a:off x="2404872"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9" name="Text 7"/>
          <p:cNvSpPr/>
          <p:nvPr/>
        </p:nvSpPr>
        <p:spPr>
          <a:xfrm>
            <a:off x="2514600" y="1737360"/>
            <a:ext cx="1408176" cy="384048"/>
          </a:xfrm>
          <a:prstGeom prst="rect">
            <a:avLst/>
          </a:prstGeom>
          <a:noFill/>
          <a:ln/>
        </p:spPr>
        <p:txBody>
          <a:bodyPr wrap="square" lIns="0" tIns="0" rIns="0" bIns="0" rtlCol="0" anchor="ctr"/>
          <a:lstStyle/>
          <a:p>
            <a:pPr marL="0" indent="0" algn="ctr">
              <a:buNone/>
            </a:pPr>
            <a:r>
              <a:rPr lang="en-US" sz="2500" b="1" dirty="0">
                <a:solidFill>
                  <a:srgbClr val="007CC3"/>
                </a:solidFill>
                <a:latin typeface="Aptos Display" pitchFamily="34" charset="0"/>
                <a:ea typeface="Aptos Display" pitchFamily="34" charset="-122"/>
                <a:cs typeface="Aptos Display" pitchFamily="34" charset="-120"/>
              </a:rPr>
              <a:t>3</a:t>
            </a:r>
            <a:endParaRPr lang="en-US" sz="2500" dirty="0"/>
          </a:p>
        </p:txBody>
      </p:sp>
      <p:sp>
        <p:nvSpPr>
          <p:cNvPr id="10" name="Text 8"/>
          <p:cNvSpPr/>
          <p:nvPr/>
        </p:nvSpPr>
        <p:spPr>
          <a:xfrm>
            <a:off x="2496312"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component types represented</a:t>
            </a:r>
            <a:endParaRPr lang="en-US" sz="950" dirty="0"/>
          </a:p>
        </p:txBody>
      </p:sp>
      <p:sp>
        <p:nvSpPr>
          <p:cNvPr id="11" name="Shape 9"/>
          <p:cNvSpPr/>
          <p:nvPr/>
        </p:nvSpPr>
        <p:spPr>
          <a:xfrm>
            <a:off x="4306824"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12" name="Text 10"/>
          <p:cNvSpPr/>
          <p:nvPr/>
        </p:nvSpPr>
        <p:spPr>
          <a:xfrm>
            <a:off x="4416552" y="1737360"/>
            <a:ext cx="1408176" cy="384048"/>
          </a:xfrm>
          <a:prstGeom prst="rect">
            <a:avLst/>
          </a:prstGeom>
          <a:noFill/>
          <a:ln/>
        </p:spPr>
        <p:txBody>
          <a:bodyPr wrap="square" lIns="0" tIns="0" rIns="0" bIns="0" rtlCol="0" anchor="ctr"/>
          <a:lstStyle/>
          <a:p>
            <a:pPr marL="0" indent="0" algn="ctr">
              <a:buNone/>
            </a:pPr>
            <a:r>
              <a:rPr lang="en-US" sz="2500" b="1" dirty="0">
                <a:solidFill>
                  <a:srgbClr val="007CC3"/>
                </a:solidFill>
                <a:latin typeface="Aptos Display" pitchFamily="34" charset="0"/>
                <a:ea typeface="Aptos Display" pitchFamily="34" charset="-122"/>
                <a:cs typeface="Aptos Display" pitchFamily="34" charset="-120"/>
              </a:rPr>
              <a:t>2.2 / 4</a:t>
            </a:r>
            <a:endParaRPr lang="en-US" sz="2500" dirty="0"/>
          </a:p>
        </p:txBody>
      </p:sp>
      <p:sp>
        <p:nvSpPr>
          <p:cNvPr id="13" name="Text 11"/>
          <p:cNvSpPr/>
          <p:nvPr/>
        </p:nvSpPr>
        <p:spPr>
          <a:xfrm>
            <a:off x="4398264"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average current maturity</a:t>
            </a:r>
            <a:endParaRPr lang="en-US" sz="950" dirty="0"/>
          </a:p>
        </p:txBody>
      </p:sp>
      <p:sp>
        <p:nvSpPr>
          <p:cNvPr id="14" name="Shape 12"/>
          <p:cNvSpPr/>
          <p:nvPr/>
        </p:nvSpPr>
        <p:spPr>
          <a:xfrm>
            <a:off x="6208776"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15" name="Text 13"/>
          <p:cNvSpPr/>
          <p:nvPr/>
        </p:nvSpPr>
        <p:spPr>
          <a:xfrm>
            <a:off x="6318504" y="1737360"/>
            <a:ext cx="1408176" cy="384048"/>
          </a:xfrm>
          <a:prstGeom prst="rect">
            <a:avLst/>
          </a:prstGeom>
          <a:noFill/>
          <a:ln/>
        </p:spPr>
        <p:txBody>
          <a:bodyPr wrap="square" lIns="0" tIns="0" rIns="0" bIns="0" rtlCol="0" anchor="ctr"/>
          <a:lstStyle/>
          <a:p>
            <a:pPr marL="0" indent="0" algn="ctr">
              <a:buNone/>
            </a:pPr>
            <a:r>
              <a:rPr lang="en-US" sz="2500" b="1" dirty="0">
                <a:solidFill>
                  <a:srgbClr val="D97706"/>
                </a:solidFill>
                <a:latin typeface="Aptos Display" pitchFamily="34" charset="0"/>
                <a:ea typeface="Aptos Display" pitchFamily="34" charset="-122"/>
                <a:cs typeface="Aptos Display" pitchFamily="34" charset="-120"/>
              </a:rPr>
              <a:t>12.0</a:t>
            </a:r>
            <a:endParaRPr lang="en-US" sz="2500" dirty="0"/>
          </a:p>
        </p:txBody>
      </p:sp>
      <p:sp>
        <p:nvSpPr>
          <p:cNvPr id="16" name="Text 14"/>
          <p:cNvSpPr/>
          <p:nvPr/>
        </p:nvSpPr>
        <p:spPr>
          <a:xfrm>
            <a:off x="6300216"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highest priority score</a:t>
            </a:r>
            <a:endParaRPr lang="en-US" sz="950" dirty="0"/>
          </a:p>
        </p:txBody>
      </p:sp>
      <p:sp>
        <p:nvSpPr>
          <p:cNvPr id="17" name="Shape 15"/>
          <p:cNvSpPr/>
          <p:nvPr/>
        </p:nvSpPr>
        <p:spPr>
          <a:xfrm>
            <a:off x="8110728"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18" name="Text 16"/>
          <p:cNvSpPr/>
          <p:nvPr/>
        </p:nvSpPr>
        <p:spPr>
          <a:xfrm>
            <a:off x="8220456" y="1737360"/>
            <a:ext cx="1408176" cy="384048"/>
          </a:xfrm>
          <a:prstGeom prst="rect">
            <a:avLst/>
          </a:prstGeom>
          <a:noFill/>
          <a:ln/>
        </p:spPr>
        <p:txBody>
          <a:bodyPr wrap="square" lIns="0" tIns="0" rIns="0" bIns="0" rtlCol="0" anchor="ctr"/>
          <a:lstStyle/>
          <a:p>
            <a:pPr marL="0" indent="0" algn="ctr">
              <a:buNone/>
            </a:pPr>
            <a:r>
              <a:rPr lang="en-US" sz="2500" b="1" dirty="0">
                <a:solidFill>
                  <a:srgbClr val="2E8B57"/>
                </a:solidFill>
                <a:latin typeface="Aptos Display" pitchFamily="34" charset="0"/>
                <a:ea typeface="Aptos Display" pitchFamily="34" charset="-122"/>
                <a:cs typeface="Aptos Display" pitchFamily="34" charset="-120"/>
              </a:rPr>
              <a:t>184</a:t>
            </a:r>
            <a:endParaRPr lang="en-US" sz="2500" dirty="0"/>
          </a:p>
        </p:txBody>
      </p:sp>
      <p:sp>
        <p:nvSpPr>
          <p:cNvPr id="19" name="Text 17"/>
          <p:cNvSpPr/>
          <p:nvPr/>
        </p:nvSpPr>
        <p:spPr>
          <a:xfrm>
            <a:off x="8202168"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automated tests passed</a:t>
            </a:r>
            <a:endParaRPr lang="en-US" sz="950" dirty="0"/>
          </a:p>
        </p:txBody>
      </p:sp>
      <p:sp>
        <p:nvSpPr>
          <p:cNvPr id="20" name="Shape 18"/>
          <p:cNvSpPr/>
          <p:nvPr/>
        </p:nvSpPr>
        <p:spPr>
          <a:xfrm>
            <a:off x="10012680" y="1627632"/>
            <a:ext cx="1627632" cy="978408"/>
          </a:xfrm>
          <a:prstGeom prst="roundRect">
            <a:avLst>
              <a:gd name="adj" fmla="val 5607"/>
            </a:avLst>
          </a:prstGeom>
          <a:solidFill>
            <a:srgbClr val="F4F8FC"/>
          </a:solidFill>
          <a:ln w="12700">
            <a:solidFill>
              <a:srgbClr val="D7E2EE"/>
            </a:solidFill>
            <a:prstDash val="solid"/>
          </a:ln>
        </p:spPr>
        <p:txBody>
          <a:bodyPr/>
          <a:lstStyle/>
          <a:p>
            <a:endParaRPr lang="en-US"/>
          </a:p>
        </p:txBody>
      </p:sp>
      <p:sp>
        <p:nvSpPr>
          <p:cNvPr id="21" name="Text 19"/>
          <p:cNvSpPr/>
          <p:nvPr/>
        </p:nvSpPr>
        <p:spPr>
          <a:xfrm>
            <a:off x="10122408" y="1737360"/>
            <a:ext cx="1408176" cy="384048"/>
          </a:xfrm>
          <a:prstGeom prst="rect">
            <a:avLst/>
          </a:prstGeom>
          <a:noFill/>
          <a:ln/>
        </p:spPr>
        <p:txBody>
          <a:bodyPr wrap="square" lIns="0" tIns="0" rIns="0" bIns="0" rtlCol="0" anchor="ctr"/>
          <a:lstStyle/>
          <a:p>
            <a:pPr marL="0" indent="0" algn="ctr">
              <a:buNone/>
            </a:pPr>
            <a:r>
              <a:rPr lang="en-US" sz="2500" b="1" dirty="0">
                <a:solidFill>
                  <a:srgbClr val="2E8B57"/>
                </a:solidFill>
                <a:latin typeface="Aptos Display" pitchFamily="34" charset="0"/>
                <a:ea typeface="Aptos Display" pitchFamily="34" charset="-122"/>
                <a:cs typeface="Aptos Display" pitchFamily="34" charset="-120"/>
              </a:rPr>
              <a:t>0 · 0</a:t>
            </a:r>
            <a:endParaRPr lang="en-US" sz="2500" dirty="0"/>
          </a:p>
        </p:txBody>
      </p:sp>
      <p:sp>
        <p:nvSpPr>
          <p:cNvPr id="22" name="Text 20"/>
          <p:cNvSpPr/>
          <p:nvPr/>
        </p:nvSpPr>
        <p:spPr>
          <a:xfrm>
            <a:off x="10104120" y="2167128"/>
            <a:ext cx="1444752" cy="265176"/>
          </a:xfrm>
          <a:prstGeom prst="rect">
            <a:avLst/>
          </a:prstGeom>
          <a:noFill/>
          <a:ln/>
        </p:spPr>
        <p:txBody>
          <a:bodyPr wrap="square" lIns="0" tIns="0" rIns="0" bIns="0" rtlCol="0" anchor="ctr">
            <a:normAutofit/>
          </a:bodyPr>
          <a:lstStyle/>
          <a:p>
            <a:pPr marL="0" indent="0" algn="ctr">
              <a:buNone/>
            </a:pPr>
            <a:r>
              <a:rPr lang="en-US" sz="950" dirty="0">
                <a:solidFill>
                  <a:srgbClr val="4B5563"/>
                </a:solidFill>
                <a:latin typeface="Aptos" pitchFamily="34" charset="0"/>
                <a:ea typeface="Aptos" pitchFamily="34" charset="-122"/>
                <a:cs typeface="Aptos" pitchFamily="34" charset="-120"/>
              </a:rPr>
              <a:t>failed · skipped</a:t>
            </a:r>
            <a:endParaRPr lang="en-US" sz="950" dirty="0"/>
          </a:p>
        </p:txBody>
      </p:sp>
      <p:sp>
        <p:nvSpPr>
          <p:cNvPr id="23" name="Shape 21"/>
          <p:cNvSpPr/>
          <p:nvPr/>
        </p:nvSpPr>
        <p:spPr>
          <a:xfrm>
            <a:off x="502920" y="2880360"/>
            <a:ext cx="6858000" cy="2212848"/>
          </a:xfrm>
          <a:prstGeom prst="roundRect">
            <a:avLst>
              <a:gd name="adj" fmla="val 2479"/>
            </a:avLst>
          </a:prstGeom>
          <a:solidFill>
            <a:srgbClr val="FFFFFF"/>
          </a:solidFill>
          <a:ln w="12700">
            <a:solidFill>
              <a:srgbClr val="D7E2EE"/>
            </a:solidFill>
            <a:prstDash val="solid"/>
          </a:ln>
          <a:effectLst/>
        </p:spPr>
        <p:txBody>
          <a:bodyPr/>
          <a:lstStyle/>
          <a:p>
            <a:endParaRPr lang="en-US"/>
          </a:p>
        </p:txBody>
      </p:sp>
      <p:sp>
        <p:nvSpPr>
          <p:cNvPr id="24" name="Text 22"/>
          <p:cNvSpPr/>
          <p:nvPr/>
        </p:nvSpPr>
        <p:spPr>
          <a:xfrm>
            <a:off x="749808" y="3090672"/>
            <a:ext cx="2011680" cy="265176"/>
          </a:xfrm>
          <a:prstGeom prst="rect">
            <a:avLst/>
          </a:prstGeom>
          <a:noFill/>
          <a:ln/>
        </p:spPr>
        <p:txBody>
          <a:bodyPr wrap="square" lIns="0" tIns="0" rIns="0" bIns="0" rtlCol="0" anchor="ctr"/>
          <a:lstStyle/>
          <a:p>
            <a:pPr marL="0" indent="0">
              <a:buNone/>
            </a:pPr>
            <a:r>
              <a:rPr lang="en-US" sz="1600" b="1" dirty="0">
                <a:solidFill>
                  <a:srgbClr val="002060"/>
                </a:solidFill>
                <a:latin typeface="Aptos Display" pitchFamily="34" charset="0"/>
                <a:ea typeface="Aptos Display" pitchFamily="34" charset="-122"/>
                <a:cs typeface="Aptos Display" pitchFamily="34" charset="-120"/>
              </a:rPr>
              <a:t>Key Result</a:t>
            </a:r>
            <a:endParaRPr lang="en-US" sz="1600" dirty="0"/>
          </a:p>
        </p:txBody>
      </p:sp>
      <p:sp>
        <p:nvSpPr>
          <p:cNvPr id="25" name="Text 23"/>
          <p:cNvSpPr/>
          <p:nvPr/>
        </p:nvSpPr>
        <p:spPr>
          <a:xfrm>
            <a:off x="749808" y="3438144"/>
            <a:ext cx="6263640" cy="420624"/>
          </a:xfrm>
          <a:prstGeom prst="rect">
            <a:avLst/>
          </a:prstGeom>
          <a:noFill/>
          <a:ln/>
        </p:spPr>
        <p:txBody>
          <a:bodyPr wrap="square" lIns="254" tIns="254" rIns="254" bIns="254" rtlCol="0" anchor="ctr">
            <a:normAutofit/>
          </a:bodyPr>
          <a:lstStyle/>
          <a:p>
            <a:pPr marL="0" indent="0">
              <a:buNone/>
            </a:pPr>
            <a:r>
              <a:rPr lang="en-US" sz="1300" b="1" dirty="0">
                <a:solidFill>
                  <a:srgbClr val="141B41"/>
                </a:solidFill>
                <a:latin typeface="Aptos" pitchFamily="34" charset="0"/>
                <a:ea typeface="Aptos" pitchFamily="34" charset="-122"/>
                <a:cs typeface="Aptos" pitchFamily="34" charset="-120"/>
              </a:rPr>
              <a:t>FCAF differentiated migration priorities rather than treating every cryptographic finding as equally urgent.</a:t>
            </a:r>
            <a:endParaRPr lang="en-US" sz="1300" dirty="0"/>
          </a:p>
        </p:txBody>
      </p:sp>
      <p:sp>
        <p:nvSpPr>
          <p:cNvPr id="26" name="Shape 24"/>
          <p:cNvSpPr/>
          <p:nvPr/>
        </p:nvSpPr>
        <p:spPr>
          <a:xfrm>
            <a:off x="768096" y="4023360"/>
            <a:ext cx="109728" cy="109728"/>
          </a:xfrm>
          <a:prstGeom prst="ellipse">
            <a:avLst/>
          </a:prstGeom>
          <a:solidFill>
            <a:srgbClr val="D97706"/>
          </a:solidFill>
          <a:ln w="12700">
            <a:solidFill>
              <a:srgbClr val="D97706"/>
            </a:solidFill>
            <a:prstDash val="solid"/>
          </a:ln>
        </p:spPr>
        <p:txBody>
          <a:bodyPr/>
          <a:lstStyle/>
          <a:p>
            <a:endParaRPr lang="en-US"/>
          </a:p>
        </p:txBody>
      </p:sp>
      <p:sp>
        <p:nvSpPr>
          <p:cNvPr id="27" name="Text 25"/>
          <p:cNvSpPr/>
          <p:nvPr/>
        </p:nvSpPr>
        <p:spPr>
          <a:xfrm>
            <a:off x="960120" y="3986784"/>
            <a:ext cx="2331720" cy="210312"/>
          </a:xfrm>
          <a:prstGeom prst="rect">
            <a:avLst/>
          </a:prstGeom>
          <a:noFill/>
          <a:ln/>
        </p:spPr>
        <p:txBody>
          <a:bodyPr wrap="square" lIns="0" tIns="0" rIns="0" bIns="0" rtlCol="0" anchor="ctr"/>
          <a:lstStyle/>
          <a:p>
            <a:pPr marL="0" indent="0">
              <a:buNone/>
            </a:pPr>
            <a:r>
              <a:rPr lang="en-US" sz="1020" b="1" dirty="0">
                <a:solidFill>
                  <a:srgbClr val="141B41"/>
                </a:solidFill>
                <a:latin typeface="Aptos" pitchFamily="34" charset="0"/>
                <a:ea typeface="Aptos" pitchFamily="34" charset="-122"/>
                <a:cs typeface="Aptos" pitchFamily="34" charset="-120"/>
              </a:rPr>
              <a:t>ECDSA · Payment Gateway</a:t>
            </a:r>
            <a:endParaRPr lang="en-US" sz="1020" dirty="0"/>
          </a:p>
        </p:txBody>
      </p:sp>
      <p:sp>
        <p:nvSpPr>
          <p:cNvPr id="28" name="Text 26"/>
          <p:cNvSpPr/>
          <p:nvPr/>
        </p:nvSpPr>
        <p:spPr>
          <a:xfrm>
            <a:off x="3401568" y="3986784"/>
            <a:ext cx="1645920" cy="210312"/>
          </a:xfrm>
          <a:prstGeom prst="rect">
            <a:avLst/>
          </a:prstGeom>
          <a:noFill/>
          <a:ln/>
        </p:spPr>
        <p:txBody>
          <a:bodyPr wrap="square" lIns="0" tIns="0" rIns="0" bIns="0" rtlCol="0" anchor="ctr"/>
          <a:lstStyle/>
          <a:p>
            <a:pPr marL="0" indent="0">
              <a:buNone/>
            </a:pPr>
            <a:r>
              <a:rPr lang="en-US" sz="1020" b="1" dirty="0">
                <a:solidFill>
                  <a:srgbClr val="007CC3"/>
                </a:solidFill>
                <a:latin typeface="Aptos" pitchFamily="34" charset="0"/>
                <a:ea typeface="Aptos" pitchFamily="34" charset="-122"/>
                <a:cs typeface="Aptos" pitchFamily="34" charset="-120"/>
              </a:rPr>
              <a:t>Priority 12.0</a:t>
            </a:r>
            <a:endParaRPr lang="en-US" sz="1020" dirty="0"/>
          </a:p>
        </p:txBody>
      </p:sp>
      <p:sp>
        <p:nvSpPr>
          <p:cNvPr id="29" name="Text 27"/>
          <p:cNvSpPr/>
          <p:nvPr/>
        </p:nvSpPr>
        <p:spPr>
          <a:xfrm>
            <a:off x="5138928" y="3986784"/>
            <a:ext cx="1783080" cy="210312"/>
          </a:xfrm>
          <a:prstGeom prst="rect">
            <a:avLst/>
          </a:prstGeom>
          <a:noFill/>
          <a:ln/>
        </p:spPr>
        <p:txBody>
          <a:bodyPr wrap="square" lIns="0" tIns="0" rIns="0" bIns="0" rtlCol="0" anchor="ctr">
            <a:normAutofit/>
          </a:bodyPr>
          <a:lstStyle/>
          <a:p>
            <a:pPr marL="0" indent="0">
              <a:buNone/>
            </a:pPr>
            <a:r>
              <a:rPr lang="en-US" sz="1000" dirty="0">
                <a:solidFill>
                  <a:srgbClr val="4B5563"/>
                </a:solidFill>
                <a:latin typeface="Aptos" pitchFamily="34" charset="0"/>
                <a:ea typeface="Aptos" pitchFamily="34" charset="-122"/>
                <a:cs typeface="Aptos" pitchFamily="34" charset="-120"/>
              </a:rPr>
              <a:t>Highest migration priority</a:t>
            </a:r>
            <a:endParaRPr lang="en-US" sz="1000" dirty="0"/>
          </a:p>
        </p:txBody>
      </p:sp>
      <p:sp>
        <p:nvSpPr>
          <p:cNvPr id="30" name="Shape 28"/>
          <p:cNvSpPr/>
          <p:nvPr/>
        </p:nvSpPr>
        <p:spPr>
          <a:xfrm>
            <a:off x="768096" y="4361688"/>
            <a:ext cx="109728" cy="109728"/>
          </a:xfrm>
          <a:prstGeom prst="ellipse">
            <a:avLst/>
          </a:prstGeom>
          <a:solidFill>
            <a:srgbClr val="007CC3"/>
          </a:solidFill>
          <a:ln w="12700">
            <a:solidFill>
              <a:srgbClr val="007CC3"/>
            </a:solidFill>
            <a:prstDash val="solid"/>
          </a:ln>
        </p:spPr>
        <p:txBody>
          <a:bodyPr/>
          <a:lstStyle/>
          <a:p>
            <a:endParaRPr lang="en-US"/>
          </a:p>
        </p:txBody>
      </p:sp>
      <p:sp>
        <p:nvSpPr>
          <p:cNvPr id="31" name="Text 29"/>
          <p:cNvSpPr/>
          <p:nvPr/>
        </p:nvSpPr>
        <p:spPr>
          <a:xfrm>
            <a:off x="960120" y="4325112"/>
            <a:ext cx="2331720" cy="210312"/>
          </a:xfrm>
          <a:prstGeom prst="rect">
            <a:avLst/>
          </a:prstGeom>
          <a:noFill/>
          <a:ln/>
        </p:spPr>
        <p:txBody>
          <a:bodyPr wrap="square" lIns="0" tIns="0" rIns="0" bIns="0" rtlCol="0" anchor="ctr"/>
          <a:lstStyle/>
          <a:p>
            <a:pPr marL="0" indent="0">
              <a:buNone/>
            </a:pPr>
            <a:r>
              <a:rPr lang="en-US" sz="1020" b="1" dirty="0">
                <a:solidFill>
                  <a:srgbClr val="141B41"/>
                </a:solidFill>
                <a:latin typeface="Aptos" pitchFamily="34" charset="0"/>
                <a:ea typeface="Aptos" pitchFamily="34" charset="-122"/>
                <a:cs typeface="Aptos" pitchFamily="34" charset="-120"/>
              </a:rPr>
              <a:t>RSA-2048 · PKI Infrastructure</a:t>
            </a:r>
            <a:endParaRPr lang="en-US" sz="1020" dirty="0"/>
          </a:p>
        </p:txBody>
      </p:sp>
      <p:sp>
        <p:nvSpPr>
          <p:cNvPr id="32" name="Text 30"/>
          <p:cNvSpPr/>
          <p:nvPr/>
        </p:nvSpPr>
        <p:spPr>
          <a:xfrm>
            <a:off x="3401568" y="4325112"/>
            <a:ext cx="1645920" cy="210312"/>
          </a:xfrm>
          <a:prstGeom prst="rect">
            <a:avLst/>
          </a:prstGeom>
          <a:noFill/>
          <a:ln/>
        </p:spPr>
        <p:txBody>
          <a:bodyPr wrap="square" lIns="0" tIns="0" rIns="0" bIns="0" rtlCol="0" anchor="ctr"/>
          <a:lstStyle/>
          <a:p>
            <a:pPr marL="0" indent="0">
              <a:buNone/>
            </a:pPr>
            <a:r>
              <a:rPr lang="en-US" sz="1020" b="1" dirty="0">
                <a:solidFill>
                  <a:srgbClr val="007CC3"/>
                </a:solidFill>
                <a:latin typeface="Aptos" pitchFamily="34" charset="0"/>
                <a:ea typeface="Aptos" pitchFamily="34" charset="-122"/>
                <a:cs typeface="Aptos" pitchFamily="34" charset="-120"/>
              </a:rPr>
              <a:t>Maturity 2 · Priority 7.2</a:t>
            </a:r>
            <a:endParaRPr lang="en-US" sz="1020" dirty="0"/>
          </a:p>
        </p:txBody>
      </p:sp>
      <p:sp>
        <p:nvSpPr>
          <p:cNvPr id="33" name="Text 31"/>
          <p:cNvSpPr/>
          <p:nvPr/>
        </p:nvSpPr>
        <p:spPr>
          <a:xfrm>
            <a:off x="5138928" y="4325112"/>
            <a:ext cx="1783080" cy="210312"/>
          </a:xfrm>
          <a:prstGeom prst="rect">
            <a:avLst/>
          </a:prstGeom>
          <a:noFill/>
          <a:ln/>
        </p:spPr>
        <p:txBody>
          <a:bodyPr wrap="square" lIns="0" tIns="0" rIns="0" bIns="0" rtlCol="0" anchor="ctr">
            <a:normAutofit/>
          </a:bodyPr>
          <a:lstStyle/>
          <a:p>
            <a:pPr marL="0" indent="0">
              <a:buNone/>
            </a:pPr>
            <a:r>
              <a:rPr lang="en-US" sz="1000" dirty="0">
                <a:solidFill>
                  <a:srgbClr val="4B5563"/>
                </a:solidFill>
                <a:latin typeface="Aptos" pitchFamily="34" charset="0"/>
                <a:ea typeface="Aptos" pitchFamily="34" charset="-122"/>
                <a:cs typeface="Aptos" pitchFamily="34" charset="-120"/>
              </a:rPr>
              <a:t>Multiple readiness constraints</a:t>
            </a:r>
            <a:endParaRPr lang="en-US" sz="1000" dirty="0"/>
          </a:p>
        </p:txBody>
      </p:sp>
      <p:sp>
        <p:nvSpPr>
          <p:cNvPr id="34" name="Shape 32"/>
          <p:cNvSpPr/>
          <p:nvPr/>
        </p:nvSpPr>
        <p:spPr>
          <a:xfrm>
            <a:off x="768096" y="4700016"/>
            <a:ext cx="109728" cy="109728"/>
          </a:xfrm>
          <a:prstGeom prst="ellipse">
            <a:avLst/>
          </a:prstGeom>
          <a:solidFill>
            <a:srgbClr val="007CC3"/>
          </a:solidFill>
          <a:ln w="12700">
            <a:solidFill>
              <a:srgbClr val="007CC3"/>
            </a:solidFill>
            <a:prstDash val="solid"/>
          </a:ln>
        </p:spPr>
        <p:txBody>
          <a:bodyPr/>
          <a:lstStyle/>
          <a:p>
            <a:endParaRPr lang="en-US"/>
          </a:p>
        </p:txBody>
      </p:sp>
      <p:sp>
        <p:nvSpPr>
          <p:cNvPr id="35" name="Text 33"/>
          <p:cNvSpPr/>
          <p:nvPr/>
        </p:nvSpPr>
        <p:spPr>
          <a:xfrm>
            <a:off x="960120" y="4663440"/>
            <a:ext cx="2331720" cy="210312"/>
          </a:xfrm>
          <a:prstGeom prst="rect">
            <a:avLst/>
          </a:prstGeom>
          <a:noFill/>
          <a:ln/>
        </p:spPr>
        <p:txBody>
          <a:bodyPr wrap="square" lIns="0" tIns="0" rIns="0" bIns="0" rtlCol="0" anchor="ctr"/>
          <a:lstStyle/>
          <a:p>
            <a:pPr marL="0" indent="0">
              <a:buNone/>
            </a:pPr>
            <a:r>
              <a:rPr lang="en-US" sz="1020" b="1" dirty="0">
                <a:solidFill>
                  <a:srgbClr val="141B41"/>
                </a:solidFill>
                <a:latin typeface="Aptos" pitchFamily="34" charset="0"/>
                <a:ea typeface="Aptos" pitchFamily="34" charset="-122"/>
                <a:cs typeface="Aptos" pitchFamily="34" charset="-120"/>
              </a:rPr>
              <a:t>FFDH · VPN Infrastructure</a:t>
            </a:r>
            <a:endParaRPr lang="en-US" sz="1020" dirty="0"/>
          </a:p>
        </p:txBody>
      </p:sp>
      <p:sp>
        <p:nvSpPr>
          <p:cNvPr id="36" name="Text 34"/>
          <p:cNvSpPr/>
          <p:nvPr/>
        </p:nvSpPr>
        <p:spPr>
          <a:xfrm>
            <a:off x="3401568" y="4663440"/>
            <a:ext cx="1645920" cy="210312"/>
          </a:xfrm>
          <a:prstGeom prst="rect">
            <a:avLst/>
          </a:prstGeom>
          <a:noFill/>
          <a:ln/>
        </p:spPr>
        <p:txBody>
          <a:bodyPr wrap="square" lIns="0" tIns="0" rIns="0" bIns="0" rtlCol="0" anchor="ctr"/>
          <a:lstStyle/>
          <a:p>
            <a:pPr marL="0" indent="0">
              <a:buNone/>
            </a:pPr>
            <a:r>
              <a:rPr lang="en-US" sz="1020" b="1" dirty="0">
                <a:solidFill>
                  <a:srgbClr val="007CC3"/>
                </a:solidFill>
                <a:latin typeface="Aptos" pitchFamily="34" charset="0"/>
                <a:ea typeface="Aptos" pitchFamily="34" charset="-122"/>
                <a:cs typeface="Aptos" pitchFamily="34" charset="-120"/>
              </a:rPr>
              <a:t>Maturity 2 · Low confidence</a:t>
            </a:r>
            <a:endParaRPr lang="en-US" sz="1020" dirty="0"/>
          </a:p>
        </p:txBody>
      </p:sp>
      <p:sp>
        <p:nvSpPr>
          <p:cNvPr id="37" name="Text 35"/>
          <p:cNvSpPr/>
          <p:nvPr/>
        </p:nvSpPr>
        <p:spPr>
          <a:xfrm>
            <a:off x="5138928" y="4663440"/>
            <a:ext cx="1783080" cy="210312"/>
          </a:xfrm>
          <a:prstGeom prst="rect">
            <a:avLst/>
          </a:prstGeom>
          <a:noFill/>
          <a:ln/>
        </p:spPr>
        <p:txBody>
          <a:bodyPr wrap="square" lIns="0" tIns="0" rIns="0" bIns="0" rtlCol="0" anchor="ctr">
            <a:normAutofit/>
          </a:bodyPr>
          <a:lstStyle/>
          <a:p>
            <a:pPr marL="0" indent="0">
              <a:buNone/>
            </a:pPr>
            <a:r>
              <a:rPr lang="en-US" sz="1000" dirty="0">
                <a:solidFill>
                  <a:srgbClr val="4B5563"/>
                </a:solidFill>
                <a:latin typeface="Aptos" pitchFamily="34" charset="0"/>
                <a:ea typeface="Aptos" pitchFamily="34" charset="-122"/>
                <a:cs typeface="Aptos" pitchFamily="34" charset="-120"/>
              </a:rPr>
              <a:t>Runtime evidence coverage gap</a:t>
            </a:r>
            <a:endParaRPr lang="en-US" sz="1000" dirty="0"/>
          </a:p>
        </p:txBody>
      </p:sp>
      <p:sp>
        <p:nvSpPr>
          <p:cNvPr id="38" name="Shape 36"/>
          <p:cNvSpPr/>
          <p:nvPr/>
        </p:nvSpPr>
        <p:spPr>
          <a:xfrm>
            <a:off x="7562088" y="2880360"/>
            <a:ext cx="4142232" cy="2212848"/>
          </a:xfrm>
          <a:prstGeom prst="roundRect">
            <a:avLst>
              <a:gd name="adj" fmla="val 2479"/>
            </a:avLst>
          </a:prstGeom>
          <a:solidFill>
            <a:srgbClr val="F5FAFD"/>
          </a:solidFill>
          <a:ln w="12700">
            <a:solidFill>
              <a:srgbClr val="B9DCEE"/>
            </a:solidFill>
            <a:prstDash val="solid"/>
          </a:ln>
        </p:spPr>
        <p:txBody>
          <a:bodyPr/>
          <a:lstStyle/>
          <a:p>
            <a:endParaRPr lang="en-US"/>
          </a:p>
        </p:txBody>
      </p:sp>
      <p:sp>
        <p:nvSpPr>
          <p:cNvPr id="39" name="Text 37"/>
          <p:cNvSpPr/>
          <p:nvPr/>
        </p:nvSpPr>
        <p:spPr>
          <a:xfrm>
            <a:off x="7799832" y="3090672"/>
            <a:ext cx="3611880" cy="265176"/>
          </a:xfrm>
          <a:prstGeom prst="rect">
            <a:avLst/>
          </a:prstGeom>
          <a:noFill/>
          <a:ln/>
        </p:spPr>
        <p:txBody>
          <a:bodyPr wrap="square" lIns="0" tIns="0" rIns="0" bIns="0" rtlCol="0" anchor="ctr"/>
          <a:lstStyle/>
          <a:p>
            <a:pPr marL="0" indent="0">
              <a:buNone/>
            </a:pPr>
            <a:r>
              <a:rPr lang="en-US" sz="1600" b="1" dirty="0">
                <a:solidFill>
                  <a:srgbClr val="002060"/>
                </a:solidFill>
                <a:latin typeface="Aptos Display" pitchFamily="34" charset="0"/>
                <a:ea typeface="Aptos Display" pitchFamily="34" charset="-122"/>
                <a:cs typeface="Aptos Display" pitchFamily="34" charset="-120"/>
              </a:rPr>
              <a:t>What Was Demonstrated</a:t>
            </a:r>
            <a:endParaRPr lang="en-US" sz="1600" dirty="0"/>
          </a:p>
        </p:txBody>
      </p:sp>
      <p:sp>
        <p:nvSpPr>
          <p:cNvPr id="40" name="Text 38"/>
          <p:cNvSpPr/>
          <p:nvPr/>
        </p:nvSpPr>
        <p:spPr>
          <a:xfrm>
            <a:off x="7799832" y="3502152"/>
            <a:ext cx="3538728" cy="1261872"/>
          </a:xfrm>
          <a:prstGeom prst="rect">
            <a:avLst/>
          </a:prstGeom>
          <a:noFill/>
          <a:ln/>
        </p:spPr>
        <p:txBody>
          <a:bodyPr wrap="square" lIns="254" tIns="254" rIns="254" bIns="254" rtlCol="0" anchor="ctr">
            <a:normAutofit/>
          </a:bodyPr>
          <a:lstStyle/>
          <a:p>
            <a:pPr marL="152400" indent="-152400">
              <a:buSzPct val="100000"/>
              <a:buChar char="•"/>
            </a:pPr>
            <a:r>
              <a:rPr lang="en-US" sz="1100" dirty="0">
                <a:solidFill>
                  <a:srgbClr val="4B5563"/>
                </a:solidFill>
                <a:latin typeface="Aptos" pitchFamily="34" charset="0"/>
                <a:ea typeface="Aptos" pitchFamily="34" charset="-122"/>
                <a:cs typeface="Aptos" pitchFamily="34" charset="-120"/>
              </a:rPr>
              <a:t>Evidence parsing and component mapping</a:t>
            </a:r>
            <a:endParaRPr lang="en-US" sz="1100" dirty="0"/>
          </a:p>
          <a:p>
            <a:pPr marL="152400" indent="-152400">
              <a:buSzPct val="100000"/>
              <a:buChar char="•"/>
            </a:pPr>
            <a:r>
              <a:rPr lang="en-US" sz="1100" dirty="0">
                <a:solidFill>
                  <a:srgbClr val="4B5563"/>
                </a:solidFill>
                <a:latin typeface="Aptos" pitchFamily="34" charset="0"/>
                <a:ea typeface="Aptos" pitchFamily="34" charset="-122"/>
                <a:cs typeface="Aptos" pitchFamily="34" charset="-120"/>
              </a:rPr>
              <a:t>Readiness and confidence assessment</a:t>
            </a:r>
            <a:endParaRPr lang="en-US" sz="1100" dirty="0"/>
          </a:p>
          <a:p>
            <a:pPr marL="152400" indent="-152400">
              <a:buSzPct val="100000"/>
              <a:buChar char="•"/>
            </a:pPr>
            <a:r>
              <a:rPr lang="en-US" sz="1100" dirty="0">
                <a:solidFill>
                  <a:srgbClr val="4B5563"/>
                </a:solidFill>
                <a:latin typeface="Aptos" pitchFamily="34" charset="0"/>
                <a:ea typeface="Aptos" pitchFamily="34" charset="-122"/>
                <a:cs typeface="Aptos" pitchFamily="34" charset="-120"/>
              </a:rPr>
              <a:t>Business-context prioritisation</a:t>
            </a:r>
            <a:endParaRPr lang="en-US" sz="1100" dirty="0"/>
          </a:p>
          <a:p>
            <a:pPr marL="152400" indent="-152400">
              <a:buSzPct val="100000"/>
              <a:buChar char="•"/>
            </a:pPr>
            <a:r>
              <a:rPr lang="en-US" sz="1100" dirty="0">
                <a:solidFill>
                  <a:srgbClr val="4B5563"/>
                </a:solidFill>
                <a:latin typeface="Aptos" pitchFamily="34" charset="0"/>
                <a:ea typeface="Aptos" pitchFamily="34" charset="-122"/>
                <a:cs typeface="Aptos" pitchFamily="34" charset="-120"/>
              </a:rPr>
              <a:t>Migration actions and reassessment workflow</a:t>
            </a:r>
            <a:endParaRPr lang="en-US" sz="1100" dirty="0"/>
          </a:p>
        </p:txBody>
      </p:sp>
      <p:sp>
        <p:nvSpPr>
          <p:cNvPr id="41" name="Shape 39"/>
          <p:cNvSpPr/>
          <p:nvPr/>
        </p:nvSpPr>
        <p:spPr>
          <a:xfrm>
            <a:off x="502920" y="5404104"/>
            <a:ext cx="11201400" cy="749808"/>
          </a:xfrm>
          <a:prstGeom prst="roundRect">
            <a:avLst>
              <a:gd name="adj" fmla="val 7317"/>
            </a:avLst>
          </a:prstGeom>
          <a:solidFill>
            <a:srgbClr val="002060"/>
          </a:solidFill>
          <a:ln w="12700">
            <a:solidFill>
              <a:srgbClr val="002060"/>
            </a:solidFill>
            <a:prstDash val="solid"/>
          </a:ln>
        </p:spPr>
        <p:txBody>
          <a:bodyPr/>
          <a:lstStyle/>
          <a:p>
            <a:endParaRPr lang="en-US"/>
          </a:p>
        </p:txBody>
      </p:sp>
      <p:sp>
        <p:nvSpPr>
          <p:cNvPr id="42" name="Text 40"/>
          <p:cNvSpPr/>
          <p:nvPr/>
        </p:nvSpPr>
        <p:spPr>
          <a:xfrm>
            <a:off x="749808" y="5559552"/>
            <a:ext cx="2057400" cy="182880"/>
          </a:xfrm>
          <a:prstGeom prst="rect">
            <a:avLst/>
          </a:prstGeom>
          <a:noFill/>
          <a:ln/>
        </p:spPr>
        <p:txBody>
          <a:bodyPr wrap="square" lIns="0" tIns="0" rIns="0" bIns="0" rtlCol="0" anchor="ctr"/>
          <a:lstStyle/>
          <a:p>
            <a:pPr marL="0" indent="0">
              <a:buNone/>
            </a:pPr>
            <a:r>
              <a:rPr lang="en-US" sz="1000" b="1" kern="0" spc="60" dirty="0">
                <a:solidFill>
                  <a:srgbClr val="7ED3F7"/>
                </a:solidFill>
                <a:latin typeface="Aptos" pitchFamily="34" charset="0"/>
                <a:ea typeface="Aptos" pitchFamily="34" charset="-122"/>
                <a:cs typeface="Aptos" pitchFamily="34" charset="-120"/>
              </a:rPr>
              <a:t>RECOMMENDED NEXT STEP</a:t>
            </a:r>
            <a:endParaRPr lang="en-US" sz="1000" dirty="0"/>
          </a:p>
        </p:txBody>
      </p:sp>
      <p:sp>
        <p:nvSpPr>
          <p:cNvPr id="43" name="Text 41"/>
          <p:cNvSpPr/>
          <p:nvPr/>
        </p:nvSpPr>
        <p:spPr>
          <a:xfrm>
            <a:off x="2834640" y="5541264"/>
            <a:ext cx="8549640" cy="210312"/>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Aptos" pitchFamily="34" charset="0"/>
                <a:ea typeface="Aptos" pitchFamily="34" charset="-122"/>
                <a:cs typeface="Aptos" pitchFamily="34" charset="-120"/>
              </a:rPr>
              <a:t>Evaluate FCAF using a broader, controlled financial-system evidence set with product, architecture and security SME review.</a:t>
            </a:r>
            <a:endParaRPr lang="en-US" sz="1250" dirty="0"/>
          </a:p>
        </p:txBody>
      </p:sp>
      <p:sp>
        <p:nvSpPr>
          <p:cNvPr id="44" name="Text 42"/>
          <p:cNvSpPr/>
          <p:nvPr/>
        </p:nvSpPr>
        <p:spPr>
          <a:xfrm>
            <a:off x="2834640" y="5815584"/>
            <a:ext cx="8549640" cy="164592"/>
          </a:xfrm>
          <a:prstGeom prst="rect">
            <a:avLst/>
          </a:prstGeom>
          <a:noFill/>
          <a:ln/>
        </p:spPr>
        <p:txBody>
          <a:bodyPr wrap="square" lIns="0" tIns="0" rIns="0" bIns="0" rtlCol="0" anchor="ctr">
            <a:normAutofit/>
          </a:bodyPr>
          <a:lstStyle/>
          <a:p>
            <a:pPr marL="0" indent="0">
              <a:buNone/>
            </a:pPr>
            <a:r>
              <a:rPr lang="en-US" sz="950" dirty="0">
                <a:solidFill>
                  <a:srgbClr val="CBEAF8"/>
                </a:solidFill>
                <a:latin typeface="Aptos" pitchFamily="34" charset="0"/>
                <a:ea typeface="Aptos" pitchFamily="34" charset="-122"/>
                <a:cs typeface="Aptos" pitchFamily="34" charset="-120"/>
              </a:rPr>
              <a:t>Success: determine whether evidence fit, component mapping, output quality and business usefulness support a broader pilot.</a:t>
            </a:r>
            <a:endParaRPr lang="en-US" sz="950" dirty="0"/>
          </a:p>
        </p:txBody>
      </p:sp>
      <p:sp>
        <p:nvSpPr>
          <p:cNvPr id="45" name="Slide Number Placeholder 0"/>
          <p:cNvSpPr>
            <a:spLocks noGrp="1"/>
          </p:cNvSpPr>
          <p:nvPr>
            <p:ph type="sldNum" sz="quarter" idx="4294967295"/>
          </p:nvPr>
        </p:nvSpPr>
        <p:spPr>
          <a:xfrm>
            <a:off x="11750040"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r"/>
            <a:fld id="{F7021451-1387-4CA6-816F-3879F97B5CBC}" type="slidenum">
              <a:rPr lang="en-US" b="0"/>
              <a:t>2</a:t>
            </a:fld>
            <a:endParaRPr lang="en-US"/>
          </a:p>
        </p:txBody>
      </p:sp>
      <p:pic>
        <p:nvPicPr>
          <p:cNvPr id="47" name="Picture 46">
            <a:extLst>
              <a:ext uri="{FF2B5EF4-FFF2-40B4-BE49-F238E27FC236}">
                <a16:creationId xmlns:a16="http://schemas.microsoft.com/office/drawing/2014/main" id="{01E93C17-1C0A-19AF-B948-154440CBD0D7}"/>
              </a:ext>
            </a:extLst>
          </p:cNvPr>
          <p:cNvPicPr>
            <a:picLocks noChangeAspect="1"/>
          </p:cNvPicPr>
          <p:nvPr/>
        </p:nvPicPr>
        <p:blipFill>
          <a:blip r:embed="rId3"/>
          <a:stretch>
            <a:fillRect/>
          </a:stretch>
        </p:blipFill>
        <p:spPr>
          <a:xfrm>
            <a:off x="0" y="13569"/>
            <a:ext cx="12192000" cy="5899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6</TotalTime>
  <Words>480</Words>
  <Application>Microsoft Office PowerPoint</Application>
  <PresentationFormat>Widescreen</PresentationFormat>
  <Paragraphs>66</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FCAF Quantum PoC Brief</dc:title>
  <dc:subject>FCAF Quantum PoC Brief</dc:subject>
  <dc:creator>Saleh Ahmed Alrasheed</dc:creator>
  <cp:lastModifiedBy>Saleh Ahmed Alrasheed</cp:lastModifiedBy>
  <cp:revision>3</cp:revision>
  <dcterms:created xsi:type="dcterms:W3CDTF">2026-08-13T06:01:01Z</dcterms:created>
  <dcterms:modified xsi:type="dcterms:W3CDTF">2026-08-17T04:35:57Z</dcterms:modified>
</cp:coreProperties>
</file>