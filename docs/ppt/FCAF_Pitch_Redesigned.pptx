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6741" autoAdjust="0"/>
  </p:normalViewPr>
  <p:slideViewPr>
    <p:cSldViewPr snapToGrid="0" snapToObjects="1">
      <p:cViewPr varScale="1">
        <p:scale>
          <a:sx n="55" d="100"/>
          <a:sy n="55" d="100"/>
        </p:scale>
        <p:origin x="10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48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E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discover RSA or ECDSA in a live financial system today — </a:t>
            </a:r>
            <a:r>
              <a:rPr lang="en-US" sz="14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know what to do next?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Crypto Agility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Framework (FCAF)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Domain-Independent Methodology  ·  Validated Case Study: Payment 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FCAF — From Cryptographic Discovery to Migration Decisions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Measured Evidence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39319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63240" y="3931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Explainable Assessment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39319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0" y="3931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Migration Decisions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4160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A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4160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A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26880" y="2560320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PQC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0" y="31546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2024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deadlines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Are Already Moving on Quantum-Safe Finance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56616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finalizes PQC standards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5661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51960" y="1783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constitutes Q-SAFE Expert Committee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2030+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56616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0" y="1783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relevant quantum computers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7233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74320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Q-SAFE — May 25, 2026: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constitutes an Expert Committee to evaluate the financial sector's cryptographic inventory via a CBOM, assess crypto agility, identify vulnerable systems, and recommend a national quantum-secure migration roadmap — due within 6 months.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Now, Decrypt Later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754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encrypted today with RSA/ECDSA can be captured now and decrypted retroactively once a quantum computer exists — the exposure window is already open.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42519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Institutions Lack Inventory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face compounding exposure — regulatory, operational, and reputational — the longer quantum-vulnerable cryptography stays unmapped.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GAP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Finds Cryptography. None Tells You What to Do Next.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CBOM scanners (Sonar, CBOMKit) — find algorithms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Protocol analyzers (CryptoLyzer) — probe TLS endpoints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CycloneDX 1.6 — standardize inventory output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Nobody Provides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92024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Which asset should be migrated first?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Is this component actually crypto-agile?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limits our migration readiness?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How do we verify progress?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7233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498348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You know what algorithms exist. You don't know what to do about them.
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evidence-driven migration prioritization framework exists. This is the gap FCAF fills.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Infosys Should Care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momentum — NIST PQC, RBI Q-SAFE — is creating urgent, near-term demand for exactly this kind of assessment capability across Infosys's banking and payments client base.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Q-SAFE-style mandates are coming to every major regulator</a:t>
            </a:r>
            <a:endParaRPr lang="en-US" sz="12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New revenue: PQC readiness assessments as a managed service</a:t>
            </a:r>
            <a:endParaRPr lang="en-US" sz="12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Upsell path: CBOM audit → migration consulting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201168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5080" y="2194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9516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Advantage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88036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Deep existing footprint across banking &amp; payment clients</a:t>
            </a:r>
            <a:endParaRPr lang="en-US" sz="12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Audit-ready, board-ready reporting for regulators</a:t>
            </a:r>
            <a:endParaRPr lang="en-US" sz="12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Aligns with NIST, FS-ISAC, and SWIFT guidance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7233F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54406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FCAF gives Infosys an early, credible, evidence-based answer in a high-urgency, underserved market.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GOAL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Decision Layer, Not Another Scanner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86200" y="14630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C8A0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43800" y="14630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C8A0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412480" y="14630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0" y="1463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743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can discover crypto assets but can't decide what to migrate first or why.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7947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framework that converts that evidence into prioritized, explainable migration decisions.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4846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FCAF's four-dimension evidence-driven model and validate it end-to-end on a real case study.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17233F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58978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framework that turns cryptographic evidence into an auditable migration decision.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FCAF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Crypto Agility Assessment Framework — domain-independent methodology, validated on payment systems.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“FCAF is the first framework that connects what cryptography exists to how ready you are to replace it — validated end-to-end on payment systems.”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6766560" cy="1508760"/>
          </a:xfrm>
          <a:prstGeom prst="roundRect">
            <a:avLst>
              <a:gd name="adj" fmla="val 4848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66360" y="1234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06440" y="126187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Evidence-Driven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06440" y="164592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traces back to measured static and runtime cryptographic evidence — not assumptions.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834640"/>
            <a:ext cx="6766560" cy="1508760"/>
          </a:xfrm>
          <a:prstGeom prst="roundRect">
            <a:avLst>
              <a:gd name="adj" fmla="val 4848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66360" y="2971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06440" y="29992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Domain-Configurable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06440" y="338328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weighting adapts to the financial-system domain assessed; payment systems are the validated profile today.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4572000"/>
            <a:ext cx="6766560" cy="1508760"/>
          </a:xfrm>
          <a:prstGeom prst="roundRect">
            <a:avLst>
              <a:gd name="adj" fmla="val 4848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6360" y="4709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806440" y="47365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06440" y="512064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maturity score, priority rank, and migration plan is fully auditable — no black box.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Evidence-Driven Assessment Pipeline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evidence (Sonar + CBOMKit) and runtime protocol evidence (CryptoLyzer)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2336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8A0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1960" y="1371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1508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19202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FCAF scoring engine applies the D1–D4 rubric deterministically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1812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8A0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0" y="1508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19202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rank and a concrete migration plan, ready to action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FCAF Produces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4434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Per-algorithm, 1–4 scale, across four dimensions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38404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4434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reliable the score is given evidence coverage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38404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Rank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4434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Risk × Business Weight × Readiness Gap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961120" y="38404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09828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98280" y="4434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actions, timeline, and verification steps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FCAF Different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12080" y="13898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Coordination Complexity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parties or systems must coordinate to migrate this.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2801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417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835640" y="13898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Pervasiveness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deeply embedded this algorithm is across the codebase.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2990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Agility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37490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this can be swapped live, without breaking sessions.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28803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3017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835640" y="29900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Crypto Material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9360" y="37490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long-lived keys/certs lock this into legacy lifecycles.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17233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45720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CAMM/CARAF, which rely on manual questionnaires, FCAF computes maturity directly from CBOM and protocol evidence — deterministically, with no subjective scoring.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Level 4 on D4 means no long-lived key/certificate material was detected in the CBOM — it denotes absence of evidence, not proof of true ephemerality.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FCAF Command Center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about to see is not a mockup — it's the actual engine, running against real CBOM and CryptoLyzer evidence, producing a prioritized migration plan in real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40864" y="21031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40864" y="21031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4528" y="21031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24528" y="21031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Assess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08192" y="21031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D3A5F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08192" y="21031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Prioritise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91856" y="21031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21031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Plan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75520" y="21031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75520" y="21031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Validate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11247120" cy="2194560"/>
          </a:xfrm>
          <a:prstGeom prst="roundRect">
            <a:avLst>
              <a:gd name="adj" fmla="val 3333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Focus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38912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Executive metrics: assets assessed, average maturity, HNDL alerts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Prioritized migration backlog — not just a list of vulnerabilities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One concrete executive recommendation with a migrate-by 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Assets Assessed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325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Types Covered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325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1874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Current Maturity (of 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61120" y="1280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98280" y="1325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98280" y="1874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HNDL Alerts Requiring Planning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11247120" cy="2011680"/>
        </p:xfrm>
        <a:graphic>
          <a:graphicData uri="http://schemas.openxmlformats.org/drawingml/2006/table">
            <a:tbl>
              <a:tblPr/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0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0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0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0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0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ECDSA-secp256r1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Ranked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RSA-2048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 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FFDH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Not Assessed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480060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17233F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priority: ECDSA-secp256r1-SHA-256 in the Payment Gateway.  </a:t>
            </a:r>
            <a:r>
              <a:rPr lang="en-US" sz="12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maturity, priority 12.0. Under current Mosca assumptions (CRQC ≈ 2033, a configurable input), migrate by Q3 2027.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Finacle &amp; Infosys: A Potential Future Opportunity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32240"/>
          </a:solidFill>
          <a:ln w="12700">
            <a:solidFill>
              <a:srgbClr val="4FC3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Finacle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87168" y="137160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13716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32240"/>
          </a:solidFill>
          <a:ln w="12700">
            <a:solidFill>
              <a:srgbClr val="4FC3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13716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73168" y="137160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32240"/>
          </a:solidFill>
          <a:ln w="12700">
            <a:solidFill>
              <a:srgbClr val="4FC3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3716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FCAF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59168" y="137160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0" y="13716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32240"/>
          </a:solidFill>
          <a:ln w="12700">
            <a:solidFill>
              <a:srgbClr val="4FC3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0" y="13716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Readiness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45168" y="137160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0" y="13716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32240"/>
          </a:solidFill>
          <a:ln w="12700">
            <a:solidFill>
              <a:srgbClr val="4FC3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0" y="13716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3A1F1F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288036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integration. No productization. Not deployed inside Finacle today. This is a potential future alignment enabled by FCAF's domain-independent methodology — not a current-state claim.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Value (Future Exploration)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45262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51960" y="45262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Prioritization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0" y="45262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46720" y="45262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Support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30352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53035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Initiatives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51960" y="530352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51960" y="53035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Readiness Programs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Evidence Coverage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4 Weeks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Extend CBOM to additional financial-system domains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CryptoLyzer runtime for remaining components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Interoperability testing (TLS 1.3 + PQC hybrid)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2801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80560" y="14630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805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for Client Delivery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8 Weeks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4688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Formalize FCAF methodology documentation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Hybrid deployment and rollback patterns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 reusable client onboarding playbook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12801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75320" y="14630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753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968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Infosys Methodology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→ 12 Weeks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24688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Validate against a second financial-system domain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Executive report template (board + regulator ready)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Evaluate feasibility of a Finacle-integrated pilot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7233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75488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the next phase of FCAF development and a pilot client engagement in financial services.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threat to financial systems is real.
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to find the problem exist.
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to fix it — is FCAF.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can be the firm that helps financial institutions navigate the PQC transition with confidence — not guesswork.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Evidence-Driven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is traceable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5661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3703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Domain-Configurable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4114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engine, any financial domain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35661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3224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0" y="3703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Action-Ready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4114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decisions, not just inventory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Ahmed Alrasheed  ·  Infosys InStep  ·  Post-Quantum Cryptography Project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Vijayaraghavan Varadharajan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d8a196-24eb-41bb-9b22-e6a1875a70f5}" enabled="1" method="Privilege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1404</Words>
  <Application>Microsoft Office PowerPoint</Application>
  <PresentationFormat>Widescreen</PresentationFormat>
  <Paragraphs>258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Saleh Ahmed Alrasheed</cp:lastModifiedBy>
  <cp:revision>2</cp:revision>
  <dcterms:created xsi:type="dcterms:W3CDTF">2026-08-11T05:41:10Z</dcterms:created>
  <dcterms:modified xsi:type="dcterms:W3CDTF">2026-08-11T05:59:16Z</dcterms:modified>
</cp:coreProperties>
</file>